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75" r:id="rId3"/>
    <p:sldId id="273" r:id="rId4"/>
    <p:sldId id="278" r:id="rId5"/>
    <p:sldId id="280" r:id="rId6"/>
    <p:sldId id="286" r:id="rId7"/>
    <p:sldId id="287" r:id="rId8"/>
    <p:sldId id="281" r:id="rId9"/>
    <p:sldId id="282" r:id="rId10"/>
    <p:sldId id="283" r:id="rId11"/>
    <p:sldId id="284" r:id="rId12"/>
    <p:sldId id="285" r:id="rId13"/>
    <p:sldId id="276" r:id="rId14"/>
    <p:sldId id="288" r:id="rId15"/>
    <p:sldId id="289" r:id="rId16"/>
    <p:sldId id="290" r:id="rId17"/>
    <p:sldId id="257" r:id="rId18"/>
    <p:sldId id="264" r:id="rId19"/>
    <p:sldId id="274" r:id="rId20"/>
  </p:sldIdLst>
  <p:sldSz cx="12192000" cy="6858000"/>
  <p:notesSz cx="6858000" cy="9144000"/>
  <p:defaultTextStyle>
    <a:defPPr>
      <a:defRPr lang="en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–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37"/>
    <p:restoredTop sz="94651"/>
  </p:normalViewPr>
  <p:slideViewPr>
    <p:cSldViewPr snapToGrid="0">
      <p:cViewPr>
        <p:scale>
          <a:sx n="106" d="100"/>
          <a:sy n="106" d="100"/>
        </p:scale>
        <p:origin x="936" y="36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CF8B78-758B-BC7F-EA79-BF26ED023FB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GB"/>
              <a:t>Click to edit Master title style</a:t>
            </a:r>
            <a:endParaRPr lang="en-RU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39D3FD9-F4E6-7F23-41C4-4A98D0BA1DB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  <a:endParaRPr lang="en-R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47F5ADA-E74B-D6B2-A8C7-648E58D59B8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01A7DA-AF49-274C-947F-BA00D37C8FF6}" type="datetimeFigureOut">
              <a:rPr lang="en-RU" smtClean="0"/>
              <a:t>06.01.2025</a:t>
            </a:fld>
            <a:endParaRPr lang="en-R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40CBC50-CA19-8759-BC69-2402492C83B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R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9125E13-89BF-FAAF-7437-755C8FA819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EB068E-E127-ED4D-836F-D84CC2BAEE77}" type="slidenum">
              <a:rPr lang="en-RU" smtClean="0"/>
              <a:t>‹#›</a:t>
            </a:fld>
            <a:endParaRPr lang="en-RU"/>
          </a:p>
        </p:txBody>
      </p:sp>
    </p:spTree>
    <p:extLst>
      <p:ext uri="{BB962C8B-B14F-4D97-AF65-F5344CB8AC3E}">
        <p14:creationId xmlns:p14="http://schemas.microsoft.com/office/powerpoint/2010/main" val="341805446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6C7D715-1A20-61A3-A9D0-91F77CBC879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RU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4D1C262-E34D-E31D-02D4-A087AA24484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R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C330246-85EF-B904-A674-901BEB6B125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01A7DA-AF49-274C-947F-BA00D37C8FF6}" type="datetimeFigureOut">
              <a:rPr lang="en-RU" smtClean="0"/>
              <a:t>06.01.2025</a:t>
            </a:fld>
            <a:endParaRPr lang="en-R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290C590-DB28-F9D9-757A-0C43628E974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R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CDD4652-23F0-8EB4-E825-6CCD430E700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EB068E-E127-ED4D-836F-D84CC2BAEE77}" type="slidenum">
              <a:rPr lang="en-RU" smtClean="0"/>
              <a:t>‹#›</a:t>
            </a:fld>
            <a:endParaRPr lang="en-RU"/>
          </a:p>
        </p:txBody>
      </p:sp>
    </p:spTree>
    <p:extLst>
      <p:ext uri="{BB962C8B-B14F-4D97-AF65-F5344CB8AC3E}">
        <p14:creationId xmlns:p14="http://schemas.microsoft.com/office/powerpoint/2010/main" val="42585718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16E6758-D12C-3308-14F2-C8D9DB44019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GB"/>
              <a:t>Click to edit Master title style</a:t>
            </a:r>
            <a:endParaRPr lang="en-RU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7A999BF-7543-D89A-6247-F7D0A6E5126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3A09D53-0D1A-444A-C58B-01D17B2509F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01A7DA-AF49-274C-947F-BA00D37C8FF6}" type="datetimeFigureOut">
              <a:rPr lang="en-RU" smtClean="0"/>
              <a:t>06.01.2025</a:t>
            </a:fld>
            <a:endParaRPr lang="en-R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F39D11A-B3FA-B227-AEB5-A1F027C06A9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R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CAF6E8B-AECC-A897-5BB9-6BE81A9F5F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EB068E-E127-ED4D-836F-D84CC2BAEE77}" type="slidenum">
              <a:rPr lang="en-RU" smtClean="0"/>
              <a:t>‹#›</a:t>
            </a:fld>
            <a:endParaRPr lang="en-RU"/>
          </a:p>
        </p:txBody>
      </p:sp>
    </p:spTree>
    <p:extLst>
      <p:ext uri="{BB962C8B-B14F-4D97-AF65-F5344CB8AC3E}">
        <p14:creationId xmlns:p14="http://schemas.microsoft.com/office/powerpoint/2010/main" val="333929369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F353EDB-8F45-83EC-A9A7-6FFDD23B53B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RU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35BD2F7-3D3F-C8B7-79E9-34DB2D81F94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RU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195CF52-FF3F-554A-CFD2-2DE2CA2BBD6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RU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A0883EC-0F9A-E19B-1672-5346B315EDC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01A7DA-AF49-274C-947F-BA00D37C8FF6}" type="datetimeFigureOut">
              <a:rPr lang="en-RU" smtClean="0"/>
              <a:t>06.01.2025</a:t>
            </a:fld>
            <a:endParaRPr lang="en-RU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61ED1CE-5CCC-51F0-0C46-223BD921873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RU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BEF86D7-E650-E297-7CB8-C1BE527636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EB068E-E127-ED4D-836F-D84CC2BAEE77}" type="slidenum">
              <a:rPr lang="en-RU" smtClean="0"/>
              <a:t>‹#›</a:t>
            </a:fld>
            <a:endParaRPr lang="en-RU"/>
          </a:p>
        </p:txBody>
      </p:sp>
    </p:spTree>
    <p:extLst>
      <p:ext uri="{BB962C8B-B14F-4D97-AF65-F5344CB8AC3E}">
        <p14:creationId xmlns:p14="http://schemas.microsoft.com/office/powerpoint/2010/main" val="20491979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D279643-40BF-051F-4D87-C40DD9D01DE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RU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DD92261-7561-7504-30E7-0F61D390DE2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7FBE779-2485-A6A8-5DD0-655166E31C7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RU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F71747C4-E85A-C2C3-5F8E-15205E46D95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13CD7618-7CAE-FBD7-0FAB-C9A4B441BCF4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RU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E88CE19D-146E-153B-A536-9D37AAB24C5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01A7DA-AF49-274C-947F-BA00D37C8FF6}" type="datetimeFigureOut">
              <a:rPr lang="en-RU" smtClean="0"/>
              <a:t>06.01.2025</a:t>
            </a:fld>
            <a:endParaRPr lang="en-RU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C0E622BF-1056-81C2-2E83-6B969D8CF73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RU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0F8FF028-5C14-8FC3-AB21-7C0DAB3F4B0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EB068E-E127-ED4D-836F-D84CC2BAEE77}" type="slidenum">
              <a:rPr lang="en-RU" smtClean="0"/>
              <a:t>‹#›</a:t>
            </a:fld>
            <a:endParaRPr lang="en-RU"/>
          </a:p>
        </p:txBody>
      </p:sp>
    </p:spTree>
    <p:extLst>
      <p:ext uri="{BB962C8B-B14F-4D97-AF65-F5344CB8AC3E}">
        <p14:creationId xmlns:p14="http://schemas.microsoft.com/office/powerpoint/2010/main" val="64224978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BCAD6FE-C99D-0E37-45C2-2F97383D3C2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RU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6EA717B-4CD8-25F9-CA93-7D735E8AA36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01A7DA-AF49-274C-947F-BA00D37C8FF6}" type="datetimeFigureOut">
              <a:rPr lang="en-RU" smtClean="0"/>
              <a:t>06.01.2025</a:t>
            </a:fld>
            <a:endParaRPr lang="en-RU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15A02F4-A7FE-4BF6-FA2F-F0D61001BAE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RU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2C35D74-437C-1A24-BB10-6474031964F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EB068E-E127-ED4D-836F-D84CC2BAEE77}" type="slidenum">
              <a:rPr lang="en-RU" smtClean="0"/>
              <a:t>‹#›</a:t>
            </a:fld>
            <a:endParaRPr lang="en-RU"/>
          </a:p>
        </p:txBody>
      </p:sp>
    </p:spTree>
    <p:extLst>
      <p:ext uri="{BB962C8B-B14F-4D97-AF65-F5344CB8AC3E}">
        <p14:creationId xmlns:p14="http://schemas.microsoft.com/office/powerpoint/2010/main" val="347535893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56C9FC0F-F4FF-FECA-8017-6230CB92FC3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01A7DA-AF49-274C-947F-BA00D37C8FF6}" type="datetimeFigureOut">
              <a:rPr lang="en-RU" smtClean="0"/>
              <a:t>06.01.2025</a:t>
            </a:fld>
            <a:endParaRPr lang="en-RU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95111E6A-BACF-7077-7E99-0C404D86566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RU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FB40A83-3728-F323-7004-C081878AF1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EB068E-E127-ED4D-836F-D84CC2BAEE77}" type="slidenum">
              <a:rPr lang="en-RU" smtClean="0"/>
              <a:t>‹#›</a:t>
            </a:fld>
            <a:endParaRPr lang="en-RU"/>
          </a:p>
        </p:txBody>
      </p:sp>
    </p:spTree>
    <p:extLst>
      <p:ext uri="{BB962C8B-B14F-4D97-AF65-F5344CB8AC3E}">
        <p14:creationId xmlns:p14="http://schemas.microsoft.com/office/powerpoint/2010/main" val="245631872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B191DD3-E372-300D-2CC5-367A95EDBCE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RU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20E96FD-3F7C-146A-5498-084FF9832E6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RU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D1F9A95-EC2D-2151-FCA3-BD2C3991E25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58AEEB5-4FE1-B65A-225E-FDC0B39A16E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01A7DA-AF49-274C-947F-BA00D37C8FF6}" type="datetimeFigureOut">
              <a:rPr lang="en-RU" smtClean="0"/>
              <a:t>06.01.2025</a:t>
            </a:fld>
            <a:endParaRPr lang="en-RU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05ADC18-5B7D-D291-3C1D-2731BD0CFD8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RU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27A5061-5B7C-6A08-2AB3-B32796A0122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EB068E-E127-ED4D-836F-D84CC2BAEE77}" type="slidenum">
              <a:rPr lang="en-RU" smtClean="0"/>
              <a:t>‹#›</a:t>
            </a:fld>
            <a:endParaRPr lang="en-RU"/>
          </a:p>
        </p:txBody>
      </p:sp>
    </p:spTree>
    <p:extLst>
      <p:ext uri="{BB962C8B-B14F-4D97-AF65-F5344CB8AC3E}">
        <p14:creationId xmlns:p14="http://schemas.microsoft.com/office/powerpoint/2010/main" val="129985625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1B7A0EC-E230-246D-63FA-886964BA477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RU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29AE11E1-D1D2-81CD-8CBA-BF53788390C6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RU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141DC8C-DC0D-2C45-6FDB-80E5CC62B4D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666BDAF-F4B0-5D17-FFAE-2B715FB5389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01A7DA-AF49-274C-947F-BA00D37C8FF6}" type="datetimeFigureOut">
              <a:rPr lang="en-RU" smtClean="0"/>
              <a:t>06.01.2025</a:t>
            </a:fld>
            <a:endParaRPr lang="en-RU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D5B73DD-601F-C34E-B16B-0054FE4D18F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RU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E3720E8-1A61-7220-87FD-6C7D92285B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EB068E-E127-ED4D-836F-D84CC2BAEE77}" type="slidenum">
              <a:rPr lang="en-RU" smtClean="0"/>
              <a:t>‹#›</a:t>
            </a:fld>
            <a:endParaRPr lang="en-RU"/>
          </a:p>
        </p:txBody>
      </p:sp>
    </p:spTree>
    <p:extLst>
      <p:ext uri="{BB962C8B-B14F-4D97-AF65-F5344CB8AC3E}">
        <p14:creationId xmlns:p14="http://schemas.microsoft.com/office/powerpoint/2010/main" val="392022846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314AF3E-2F95-560E-6D46-B722727121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RU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3B9A8F3-74C5-3E50-69E1-710A28F2CAA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R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4B6A473-2AA6-AA0C-47C4-A4453BEC78C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01A7DA-AF49-274C-947F-BA00D37C8FF6}" type="datetimeFigureOut">
              <a:rPr lang="en-RU" smtClean="0"/>
              <a:t>06.01.2025</a:t>
            </a:fld>
            <a:endParaRPr lang="en-R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8EC6EE1-5F9A-8401-523D-0B44B109329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R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C7A8674-859D-D689-A523-C390E429BBD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EB068E-E127-ED4D-836F-D84CC2BAEE77}" type="slidenum">
              <a:rPr lang="en-RU" smtClean="0"/>
              <a:t>‹#›</a:t>
            </a:fld>
            <a:endParaRPr lang="en-RU"/>
          </a:p>
        </p:txBody>
      </p:sp>
    </p:spTree>
    <p:extLst>
      <p:ext uri="{BB962C8B-B14F-4D97-AF65-F5344CB8AC3E}">
        <p14:creationId xmlns:p14="http://schemas.microsoft.com/office/powerpoint/2010/main" val="308140152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F4C2B72D-9254-99A3-A055-419EB6E47278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en-RU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B599A448-18C7-59ED-7A09-DCA87545F3F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R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078F154-072D-2B24-B537-F205A8781C9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01A7DA-AF49-274C-947F-BA00D37C8FF6}" type="datetimeFigureOut">
              <a:rPr lang="en-RU" smtClean="0"/>
              <a:t>06.01.2025</a:t>
            </a:fld>
            <a:endParaRPr lang="en-R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F183CAF-E3E7-250F-8BFF-4F68246FD6A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R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81EA1E2-0A8C-0ADE-B6BE-29636E0C327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EB068E-E127-ED4D-836F-D84CC2BAEE77}" type="slidenum">
              <a:rPr lang="en-RU" smtClean="0"/>
              <a:t>‹#›</a:t>
            </a:fld>
            <a:endParaRPr lang="en-RU"/>
          </a:p>
        </p:txBody>
      </p:sp>
    </p:spTree>
    <p:extLst>
      <p:ext uri="{BB962C8B-B14F-4D97-AF65-F5344CB8AC3E}">
        <p14:creationId xmlns:p14="http://schemas.microsoft.com/office/powerpoint/2010/main" val="200279759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4E2DD70B-CFD2-154C-A961-32A0CC93928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  <a:endParaRPr lang="en-RU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8283665-D64C-0DEA-0CCC-E88E2059F55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R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46E9789-53CC-45BF-45AE-8A70AB7977B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D01A7DA-AF49-274C-947F-BA00D37C8FF6}" type="datetimeFigureOut">
              <a:rPr lang="en-RU" smtClean="0"/>
              <a:t>06.01.2025</a:t>
            </a:fld>
            <a:endParaRPr lang="en-R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CEDB2BB-3595-4F8A-CF2B-B08DA4A4EF1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R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4D8F81B-5D25-2465-7D87-73A946AF50D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1EB068E-E127-ED4D-836F-D84CC2BAEE77}" type="slidenum">
              <a:rPr lang="en-RU" smtClean="0"/>
              <a:t>‹#›</a:t>
            </a:fld>
            <a:endParaRPr lang="en-RU"/>
          </a:p>
        </p:txBody>
      </p:sp>
    </p:spTree>
    <p:extLst>
      <p:ext uri="{BB962C8B-B14F-4D97-AF65-F5344CB8AC3E}">
        <p14:creationId xmlns:p14="http://schemas.microsoft.com/office/powerpoint/2010/main" val="261150132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emf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emf"/><Relationship Id="rId2" Type="http://schemas.openxmlformats.org/officeDocument/2006/relationships/image" Target="../media/image2.emf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emf"/><Relationship Id="rId2" Type="http://schemas.openxmlformats.org/officeDocument/2006/relationships/image" Target="../media/image4.emf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emf"/><Relationship Id="rId2" Type="http://schemas.openxmlformats.org/officeDocument/2006/relationships/image" Target="../media/image6.emf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emf"/><Relationship Id="rId2" Type="http://schemas.openxmlformats.org/officeDocument/2006/relationships/image" Target="../media/image8.emf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emf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emf"/><Relationship Id="rId2" Type="http://schemas.openxmlformats.org/officeDocument/2006/relationships/image" Target="../media/image11.emf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emf"/><Relationship Id="rId2" Type="http://schemas.openxmlformats.org/officeDocument/2006/relationships/image" Target="../media/image13.emf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AA7EA31-027D-1138-4D9A-2161251DF57D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RANKL/Streptococcus infection in macrophages</a:t>
            </a:r>
            <a:endParaRPr lang="en-RU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2CFBC7C-BF6E-A6D1-B460-6812014F4D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7821826" y="3602038"/>
            <a:ext cx="2846173" cy="1655762"/>
          </a:xfrm>
        </p:spPr>
        <p:txBody>
          <a:bodyPr/>
          <a:lstStyle/>
          <a:p>
            <a:r>
              <a:rPr lang="en-RU" dirty="0"/>
              <a:t>Anton Zhelonkin</a:t>
            </a:r>
          </a:p>
        </p:txBody>
      </p:sp>
    </p:spTree>
    <p:extLst>
      <p:ext uri="{BB962C8B-B14F-4D97-AF65-F5344CB8AC3E}">
        <p14:creationId xmlns:p14="http://schemas.microsoft.com/office/powerpoint/2010/main" val="384820922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29942A3B-8FEE-825D-9C3B-F0A52E344B0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45250" y="746963"/>
            <a:ext cx="8146750" cy="5819107"/>
          </a:xfrm>
          <a:prstGeom prst="rect">
            <a:avLst/>
          </a:prstGeom>
        </p:spPr>
      </p:pic>
      <p:sp>
        <p:nvSpPr>
          <p:cNvPr id="6" name="Title 1">
            <a:extLst>
              <a:ext uri="{FF2B5EF4-FFF2-40B4-BE49-F238E27FC236}">
                <a16:creationId xmlns:a16="http://schemas.microsoft.com/office/drawing/2014/main" id="{B84AB5E4-670D-5A1E-0C6C-C47C56E0A547}"/>
              </a:ext>
            </a:extLst>
          </p:cNvPr>
          <p:cNvSpPr txBox="1">
            <a:spLocks/>
          </p:cNvSpPr>
          <p:nvPr/>
        </p:nvSpPr>
        <p:spPr>
          <a:xfrm>
            <a:off x="459904" y="252998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RU"/>
              <a:t>PCA</a:t>
            </a:r>
            <a:endParaRPr lang="en-RU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6BDB861-A592-6DD1-9BB1-B9908B592877}"/>
              </a:ext>
            </a:extLst>
          </p:cNvPr>
          <p:cNvSpPr txBox="1"/>
          <p:nvPr/>
        </p:nvSpPr>
        <p:spPr>
          <a:xfrm>
            <a:off x="303770" y="1532858"/>
            <a:ext cx="3522271" cy="507831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RU" sz="1800" dirty="0"/>
              <a:t>The PCA shows several clear delineations: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RU" sz="1600" dirty="0"/>
              <a:t>PC1 captures the RANKL effect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RU" sz="1600" dirty="0"/>
              <a:t>PC2 captures the 4h vs 24h difference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RU" sz="1600" dirty="0"/>
              <a:t>The infection (mock vs STm) effect seems to be dispersed in the 2 principal components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RU" sz="1600" dirty="0"/>
          </a:p>
          <a:p>
            <a:r>
              <a:rPr lang="en-RU" sz="1600" dirty="0"/>
              <a:t>The spatial relations of the samples remain the same for the STAR data, as we observed for the Kallisto data. Yet, the PC1 now captures only 28.9% (total PC1+PC2 = 52.3) against PC1 in Kallisto of 48.9% (total 71.1%). This is expected, as STAR captures more detail about the RNA-seq data, and so generally the first PC-component captures less infromation in more highly dimensional data. </a:t>
            </a: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FB462F20-CAEA-A5A4-EE73-B99FD7FED380}"/>
              </a:ext>
            </a:extLst>
          </p:cNvPr>
          <p:cNvCxnSpPr/>
          <p:nvPr/>
        </p:nvCxnSpPr>
        <p:spPr>
          <a:xfrm>
            <a:off x="4236138" y="1850661"/>
            <a:ext cx="0" cy="3027405"/>
          </a:xfrm>
          <a:prstGeom prst="line">
            <a:avLst/>
          </a:prstGeom>
          <a:ln w="57150">
            <a:solidFill>
              <a:srgbClr val="FF0000"/>
            </a:solidFill>
            <a:headEnd type="arrow" w="med" len="med"/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>
            <a:extLst>
              <a:ext uri="{FF2B5EF4-FFF2-40B4-BE49-F238E27FC236}">
                <a16:creationId xmlns:a16="http://schemas.microsoft.com/office/drawing/2014/main" id="{11064483-3E9D-BB33-C382-5B9C99BC5338}"/>
              </a:ext>
            </a:extLst>
          </p:cNvPr>
          <p:cNvSpPr txBox="1"/>
          <p:nvPr/>
        </p:nvSpPr>
        <p:spPr>
          <a:xfrm>
            <a:off x="3384226" y="1068280"/>
            <a:ext cx="1195898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RU" sz="1800" dirty="0"/>
              <a:t>Time-</a:t>
            </a:r>
          </a:p>
          <a:p>
            <a:pPr algn="ctr"/>
            <a:r>
              <a:rPr lang="en-RU" dirty="0"/>
              <a:t>difference</a:t>
            </a:r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947FA836-F736-7FB3-F096-0207822702BC}"/>
              </a:ext>
            </a:extLst>
          </p:cNvPr>
          <p:cNvCxnSpPr>
            <a:cxnSpLocks/>
          </p:cNvCxnSpPr>
          <p:nvPr/>
        </p:nvCxnSpPr>
        <p:spPr>
          <a:xfrm flipH="1">
            <a:off x="6096000" y="6329801"/>
            <a:ext cx="4401710" cy="0"/>
          </a:xfrm>
          <a:prstGeom prst="line">
            <a:avLst/>
          </a:prstGeom>
          <a:ln w="57150">
            <a:solidFill>
              <a:srgbClr val="FF0000"/>
            </a:solidFill>
            <a:headEnd type="arrow" w="med" len="med"/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6EDA09AC-79B6-A8BE-B955-2A99FFFD8DBA}"/>
              </a:ext>
            </a:extLst>
          </p:cNvPr>
          <p:cNvSpPr txBox="1"/>
          <p:nvPr/>
        </p:nvSpPr>
        <p:spPr>
          <a:xfrm>
            <a:off x="10560785" y="6006635"/>
            <a:ext cx="1195898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RU" sz="1800" dirty="0"/>
              <a:t>RANKL-</a:t>
            </a:r>
          </a:p>
          <a:p>
            <a:pPr algn="ctr"/>
            <a:r>
              <a:rPr lang="en-RU" dirty="0"/>
              <a:t>difference</a:t>
            </a:r>
          </a:p>
        </p:txBody>
      </p:sp>
    </p:spTree>
    <p:extLst>
      <p:ext uri="{BB962C8B-B14F-4D97-AF65-F5344CB8AC3E}">
        <p14:creationId xmlns:p14="http://schemas.microsoft.com/office/powerpoint/2010/main" val="411728627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A200EE8-519E-4FAE-2603-64DA3EBAD44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86032" y="1578561"/>
            <a:ext cx="11219935" cy="467395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2400" dirty="0"/>
              <a:t>1. Comprehensive pair-wise comparisons – pooled analysis</a:t>
            </a:r>
          </a:p>
          <a:p>
            <a:r>
              <a:rPr lang="en-US" sz="1600" dirty="0"/>
              <a:t>Comprehensive pair-wise comparisons of basic contrasts over time </a:t>
            </a:r>
          </a:p>
          <a:p>
            <a:r>
              <a:rPr lang="en-US" sz="1600" dirty="0"/>
              <a:t>Pool of GSE terms from across all basic contrasts combinations </a:t>
            </a:r>
            <a:endParaRPr lang="en-RU" sz="1600" dirty="0"/>
          </a:p>
          <a:p>
            <a:pPr marL="342900" indent="-342900">
              <a:buAutoNum type="arabicPeriod"/>
            </a:pPr>
            <a:endParaRPr lang="en-US" sz="2400" dirty="0"/>
          </a:p>
          <a:p>
            <a:pPr marL="342900" indent="-342900">
              <a:buAutoNum type="arabicPeriod"/>
            </a:pPr>
            <a:endParaRPr lang="en-US" sz="2400" dirty="0"/>
          </a:p>
          <a:p>
            <a:pPr marL="0" indent="0">
              <a:buNone/>
            </a:pPr>
            <a:r>
              <a:rPr lang="en-US" sz="2400" dirty="0"/>
              <a:t>2. Specified statistical contrasts modelling – pooled analysis</a:t>
            </a:r>
          </a:p>
          <a:p>
            <a:r>
              <a:rPr lang="en-US" sz="1600" dirty="0"/>
              <a:t>Granular statistical contrasts on specific questions:</a:t>
            </a:r>
          </a:p>
          <a:p>
            <a:pPr lvl="1"/>
            <a:r>
              <a:rPr lang="en-GB" sz="1600" b="0" dirty="0">
                <a:effectLst/>
              </a:rPr>
              <a:t>Does RANKL treatment make cells respond differently to infection at 4h</a:t>
            </a:r>
            <a:endParaRPr lang="en-US" sz="1600" b="0" dirty="0">
              <a:effectLst/>
            </a:endParaRPr>
          </a:p>
          <a:p>
            <a:pPr lvl="1"/>
            <a:r>
              <a:rPr lang="en-GB" sz="1600" b="0" dirty="0">
                <a:effectLst/>
              </a:rPr>
              <a:t>Does RANKL treatment make cells respond differently to infection at 24h</a:t>
            </a:r>
          </a:p>
          <a:p>
            <a:pPr lvl="1"/>
            <a:r>
              <a:rPr lang="en-RU" sz="1600" dirty="0"/>
              <a:t>Does RANKL impact the infection response over time?</a:t>
            </a:r>
          </a:p>
          <a:p>
            <a:r>
              <a:rPr lang="en-RU" sz="1600" dirty="0"/>
              <a:t>More complex statistical modelling. May be harder to interpret 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0C06C767-F3EB-8005-4AD5-FC587542246A}"/>
              </a:ext>
            </a:extLst>
          </p:cNvPr>
          <p:cNvSpPr txBox="1">
            <a:spLocks/>
          </p:cNvSpPr>
          <p:nvPr/>
        </p:nvSpPr>
        <p:spPr>
          <a:xfrm>
            <a:off x="459904" y="252998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RU" dirty="0"/>
              <a:t>Approaches to the analysis</a:t>
            </a:r>
          </a:p>
        </p:txBody>
      </p:sp>
    </p:spTree>
    <p:extLst>
      <p:ext uri="{BB962C8B-B14F-4D97-AF65-F5344CB8AC3E}">
        <p14:creationId xmlns:p14="http://schemas.microsoft.com/office/powerpoint/2010/main" val="351243651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BD40B9D-8A29-F23F-0898-643CDB2DA82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32873" y="244810"/>
            <a:ext cx="10515600" cy="597401"/>
          </a:xfrm>
        </p:spPr>
        <p:txBody>
          <a:bodyPr>
            <a:normAutofit/>
          </a:bodyPr>
          <a:lstStyle/>
          <a:p>
            <a:r>
              <a:rPr lang="en-RU" sz="3200" dirty="0"/>
              <a:t>GSE terms pooling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9D7FB98-D1A7-A025-BFFC-56C4FA01423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32873" y="952583"/>
            <a:ext cx="11153273" cy="5436185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lang="en-RU" sz="1800" dirty="0"/>
              <a:t>Steps emplyed:</a:t>
            </a:r>
          </a:p>
          <a:p>
            <a:pPr marL="0" indent="0">
              <a:buNone/>
            </a:pPr>
            <a:endParaRPr lang="en-RU" sz="1800" dirty="0"/>
          </a:p>
          <a:p>
            <a:pPr marL="342900" indent="-342900">
              <a:buAutoNum type="arabicPeriod"/>
            </a:pPr>
            <a:r>
              <a:rPr lang="en-RU" sz="1800" dirty="0"/>
              <a:t>Set contrasts: A) pair-wise contrasts combinations; B) granular specific contrats</a:t>
            </a:r>
          </a:p>
          <a:p>
            <a:pPr marL="342900" indent="-342900">
              <a:buAutoNum type="arabicPeriod"/>
            </a:pPr>
            <a:r>
              <a:rPr lang="en-GB" sz="1800" b="0" i="0" dirty="0">
                <a:solidFill>
                  <a:srgbClr val="CCCCCC"/>
                </a:solidFill>
                <a:effectLst/>
                <a:latin typeface="-apple-system"/>
              </a:rPr>
              <a:t>Calculate differential expression for each comparison</a:t>
            </a:r>
          </a:p>
          <a:p>
            <a:pPr marL="342900" indent="-342900">
              <a:buAutoNum type="arabicPeriod"/>
            </a:pPr>
            <a:r>
              <a:rPr lang="en-GB" sz="1800" b="0" i="0" dirty="0">
                <a:solidFill>
                  <a:srgbClr val="CCCCCC"/>
                </a:solidFill>
                <a:effectLst/>
                <a:latin typeface="-apple-system"/>
              </a:rPr>
              <a:t>Run GSEA across four pathway databases (Hallmark, KEGG, GO:BP, REACTOME)</a:t>
            </a:r>
          </a:p>
          <a:p>
            <a:pPr marL="342900" indent="-342900">
              <a:buAutoNum type="arabicPeriod"/>
            </a:pPr>
            <a:r>
              <a:rPr lang="en-GB" sz="1800" b="0" i="0" dirty="0">
                <a:solidFill>
                  <a:srgbClr val="CCCCCC"/>
                </a:solidFill>
                <a:effectLst/>
                <a:latin typeface="-apple-system"/>
              </a:rPr>
              <a:t>Pool significant pathways across all comparisons</a:t>
            </a:r>
          </a:p>
          <a:p>
            <a:pPr marL="342900" indent="-342900">
              <a:buAutoNum type="arabicPeriod"/>
            </a:pPr>
            <a:r>
              <a:rPr lang="en-GB" sz="1800" b="0" i="0" dirty="0">
                <a:solidFill>
                  <a:srgbClr val="CCCCCC"/>
                </a:solidFill>
                <a:effectLst/>
                <a:latin typeface="-apple-system"/>
              </a:rPr>
              <a:t>Generate pathway activity scores</a:t>
            </a:r>
          </a:p>
          <a:p>
            <a:pPr marL="342900" indent="-342900">
              <a:buAutoNum type="arabicPeriod"/>
            </a:pPr>
            <a:r>
              <a:rPr lang="en-GB" sz="1800" b="0" i="0" dirty="0">
                <a:solidFill>
                  <a:srgbClr val="CCCCCC"/>
                </a:solidFill>
                <a:effectLst/>
                <a:latin typeface="-apple-system"/>
              </a:rPr>
              <a:t>Visualize results in ordered heatmaps showing pathway </a:t>
            </a:r>
            <a:r>
              <a:rPr lang="en-GB" sz="1800" b="0" i="0" dirty="0" err="1">
                <a:solidFill>
                  <a:srgbClr val="CCCCCC"/>
                </a:solidFill>
                <a:effectLst/>
                <a:latin typeface="-apple-system"/>
              </a:rPr>
              <a:t>behavior</a:t>
            </a:r>
            <a:r>
              <a:rPr lang="en-GB" sz="1800" b="0" i="0" dirty="0">
                <a:solidFill>
                  <a:srgbClr val="CCCCCC"/>
                </a:solidFill>
                <a:effectLst/>
                <a:latin typeface="-apple-system"/>
              </a:rPr>
              <a:t> across all conditions</a:t>
            </a:r>
            <a:endParaRPr lang="en-RU" sz="1800" dirty="0"/>
          </a:p>
          <a:p>
            <a:pPr marL="0" indent="0">
              <a:buNone/>
            </a:pPr>
            <a:endParaRPr lang="en-RU" sz="1800" dirty="0"/>
          </a:p>
          <a:p>
            <a:pPr marL="0" indent="0">
              <a:buNone/>
            </a:pPr>
            <a:endParaRPr lang="en-RU" sz="1800" dirty="0"/>
          </a:p>
        </p:txBody>
      </p:sp>
    </p:spTree>
    <p:extLst>
      <p:ext uri="{BB962C8B-B14F-4D97-AF65-F5344CB8AC3E}">
        <p14:creationId xmlns:p14="http://schemas.microsoft.com/office/powerpoint/2010/main" val="427012854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2908E72-5965-B6B7-29D9-F0000664B10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DF5DE3D-EE13-977A-4202-8E33DF40EFE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32873" y="244810"/>
            <a:ext cx="10515600" cy="597401"/>
          </a:xfrm>
        </p:spPr>
        <p:txBody>
          <a:bodyPr>
            <a:normAutofit/>
          </a:bodyPr>
          <a:lstStyle/>
          <a:p>
            <a:r>
              <a:rPr lang="en-RU" sz="3200" dirty="0"/>
              <a:t>Systems modelling approach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1D0CD11-E63C-DB4A-EDB8-81D650DB436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32873" y="952583"/>
            <a:ext cx="11153273" cy="5436185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lang="en-RU" sz="1800" dirty="0"/>
              <a:t>Steps emplyed:</a:t>
            </a:r>
          </a:p>
          <a:p>
            <a:pPr marL="0" indent="0">
              <a:buNone/>
            </a:pPr>
            <a:endParaRPr lang="en-RU" sz="1800" dirty="0"/>
          </a:p>
          <a:p>
            <a:pPr marL="342900" indent="-342900">
              <a:buAutoNum type="arabicPeriod"/>
            </a:pPr>
            <a:r>
              <a:rPr lang="en-RU" sz="1800" dirty="0"/>
              <a:t>Set all possible pairwise comparisons contrasts</a:t>
            </a:r>
          </a:p>
          <a:p>
            <a:pPr marL="342900" indent="-342900">
              <a:buAutoNum type="arabicPeriod"/>
            </a:pPr>
            <a:r>
              <a:rPr lang="en-GB" sz="1800" b="0" i="0" dirty="0">
                <a:solidFill>
                  <a:srgbClr val="CCCCCC"/>
                </a:solidFill>
                <a:effectLst/>
                <a:latin typeface="-apple-system"/>
              </a:rPr>
              <a:t>Calculate differential expression for each comparison</a:t>
            </a:r>
          </a:p>
          <a:p>
            <a:pPr marL="342900" indent="-342900">
              <a:buAutoNum type="arabicPeriod"/>
            </a:pPr>
            <a:r>
              <a:rPr lang="en-GB" sz="1800" b="0" i="0" dirty="0">
                <a:solidFill>
                  <a:srgbClr val="CCCCCC"/>
                </a:solidFill>
                <a:effectLst/>
                <a:latin typeface="-apple-system"/>
              </a:rPr>
              <a:t>Run GSEA across four pathway databases (Hallmark, KEGG, GO:BP, REACTOME)</a:t>
            </a:r>
          </a:p>
          <a:p>
            <a:pPr marL="342900" indent="-342900">
              <a:buAutoNum type="arabicPeriod"/>
            </a:pPr>
            <a:r>
              <a:rPr lang="en-GB" sz="1800" b="0" i="0" dirty="0">
                <a:solidFill>
                  <a:srgbClr val="CCCCCC"/>
                </a:solidFill>
                <a:effectLst/>
                <a:latin typeface="-apple-system"/>
              </a:rPr>
              <a:t>Pool significant pathways across all comparisons</a:t>
            </a:r>
          </a:p>
          <a:p>
            <a:pPr marL="342900" indent="-342900">
              <a:buAutoNum type="arabicPeriod"/>
            </a:pPr>
            <a:r>
              <a:rPr lang="en-GB" sz="1800" b="0" i="0" dirty="0">
                <a:solidFill>
                  <a:srgbClr val="CCCCCC"/>
                </a:solidFill>
                <a:effectLst/>
                <a:latin typeface="-apple-system"/>
              </a:rPr>
              <a:t>Generate pathway activity scores</a:t>
            </a:r>
          </a:p>
          <a:p>
            <a:pPr marL="342900" indent="-342900">
              <a:buAutoNum type="arabicPeriod"/>
            </a:pPr>
            <a:r>
              <a:rPr lang="en-GB" sz="1800" b="0" i="0" dirty="0">
                <a:solidFill>
                  <a:srgbClr val="CCCCCC"/>
                </a:solidFill>
                <a:effectLst/>
                <a:latin typeface="-apple-system"/>
              </a:rPr>
              <a:t>Visualize results in ordered heatmaps showing pathway </a:t>
            </a:r>
            <a:r>
              <a:rPr lang="en-GB" sz="1800" b="0" i="0" dirty="0" err="1">
                <a:solidFill>
                  <a:srgbClr val="CCCCCC"/>
                </a:solidFill>
                <a:effectLst/>
                <a:latin typeface="-apple-system"/>
              </a:rPr>
              <a:t>behavior</a:t>
            </a:r>
            <a:r>
              <a:rPr lang="en-GB" sz="1800" b="0" i="0" dirty="0">
                <a:solidFill>
                  <a:srgbClr val="CCCCCC"/>
                </a:solidFill>
                <a:effectLst/>
                <a:latin typeface="-apple-system"/>
              </a:rPr>
              <a:t> across all conditions</a:t>
            </a:r>
            <a:endParaRPr lang="en-RU" sz="1800" dirty="0"/>
          </a:p>
          <a:p>
            <a:pPr marL="0" indent="0">
              <a:buNone/>
            </a:pPr>
            <a:endParaRPr lang="en-RU" sz="1800" dirty="0"/>
          </a:p>
          <a:p>
            <a:pPr marL="0" indent="0">
              <a:buNone/>
            </a:pPr>
            <a:endParaRPr lang="en-RU" sz="1800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3B473FBD-7DE9-771B-4E03-3E827587E3E3}"/>
              </a:ext>
            </a:extLst>
          </p:cNvPr>
          <p:cNvSpPr/>
          <p:nvPr/>
        </p:nvSpPr>
        <p:spPr>
          <a:xfrm>
            <a:off x="332873" y="2117558"/>
            <a:ext cx="11470106" cy="4535905"/>
          </a:xfrm>
          <a:prstGeom prst="rect">
            <a:avLst/>
          </a:prstGeom>
          <a:solidFill>
            <a:schemeClr val="bg1">
              <a:lumMod val="85000"/>
            </a:schemeClr>
          </a:solidFill>
          <a:ln w="38100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/>
          </a:p>
        </p:txBody>
      </p:sp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15185ADB-C6BE-CF76-4A51-A85B256E064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58220030"/>
              </p:ext>
            </p:extLst>
          </p:nvPr>
        </p:nvGraphicFramePr>
        <p:xfrm>
          <a:off x="1695117" y="3088454"/>
          <a:ext cx="8128000" cy="3332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064000">
                  <a:extLst>
                    <a:ext uri="{9D8B030D-6E8A-4147-A177-3AD203B41FA5}">
                      <a16:colId xmlns:a16="http://schemas.microsoft.com/office/drawing/2014/main" val="3096202621"/>
                    </a:ext>
                  </a:extLst>
                </a:gridCol>
                <a:gridCol w="4064000">
                  <a:extLst>
                    <a:ext uri="{9D8B030D-6E8A-4147-A177-3AD203B41FA5}">
                      <a16:colId xmlns:a16="http://schemas.microsoft.com/office/drawing/2014/main" val="1807917024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RU" dirty="0"/>
                        <a:t>Question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RU" dirty="0"/>
                        <a:t>Statistical contrast 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7418180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800" b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STm</a:t>
                      </a:r>
                      <a:r>
                        <a:rPr lang="en-GB" sz="180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effect without RANKL at 4h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180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t4h_STm_0 - t4h_mock_0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6751917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sz="1800" b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STm</a:t>
                      </a:r>
                      <a:r>
                        <a:rPr lang="en-GB" sz="180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effect with RANKL at 4h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180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t4h_STm_100 - t4h_mock_100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9520876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sz="180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RANKL effect without infection at 4h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180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t4h_mock_100 - t4h_mock_0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2006816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80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RANKL effect with infection at 4h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80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t4h_STm_100 - t4h_STm_0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3034943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800" b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STm</a:t>
                      </a:r>
                      <a:r>
                        <a:rPr lang="en-GB" sz="180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effect without RANKL at 24h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80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t24h_STm_0 - t24h_mock_0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1173533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800" b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STm</a:t>
                      </a:r>
                      <a:r>
                        <a:rPr lang="en-GB" sz="180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effect with RANKL at 24h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80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t24h_STm_100 - t24h_mock_100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5300321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80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RANKL effect without infection at 24h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80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t24h_mock_100 - t24h_mock_0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7177722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80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RANKL effect with infection at 24h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80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t24h_STm_100 - t24h_STm_0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4836409"/>
                  </a:ext>
                </a:extLst>
              </a:tr>
            </a:tbl>
          </a:graphicData>
        </a:graphic>
      </p:graphicFrame>
      <p:sp>
        <p:nvSpPr>
          <p:cNvPr id="8" name="TextBox 7">
            <a:extLst>
              <a:ext uri="{FF2B5EF4-FFF2-40B4-BE49-F238E27FC236}">
                <a16:creationId xmlns:a16="http://schemas.microsoft.com/office/drawing/2014/main" id="{1FA25869-4FF7-62C1-8323-0C035799F37B}"/>
              </a:ext>
            </a:extLst>
          </p:cNvPr>
          <p:cNvSpPr txBox="1"/>
          <p:nvPr/>
        </p:nvSpPr>
        <p:spPr>
          <a:xfrm>
            <a:off x="1695117" y="2279841"/>
            <a:ext cx="610001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GB" b="0" i="0" dirty="0">
                <a:effectLst/>
                <a:latin typeface="-apple-system"/>
              </a:rPr>
              <a:t>A) Pair-wise comparisons </a:t>
            </a:r>
            <a:r>
              <a:rPr lang="en-GB" b="0" i="0" dirty="0" err="1">
                <a:effectLst/>
                <a:latin typeface="-apple-system"/>
              </a:rPr>
              <a:t>contrats</a:t>
            </a:r>
            <a:r>
              <a:rPr lang="en-GB" b="0" i="0" dirty="0">
                <a:effectLst/>
                <a:latin typeface="-apple-system"/>
              </a:rPr>
              <a:t>  </a:t>
            </a:r>
          </a:p>
        </p:txBody>
      </p:sp>
    </p:spTree>
    <p:extLst>
      <p:ext uri="{BB962C8B-B14F-4D97-AF65-F5344CB8AC3E}">
        <p14:creationId xmlns:p14="http://schemas.microsoft.com/office/powerpoint/2010/main" val="246869709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AD9354D-0F95-639C-7283-9DD01B26CC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9914890-A9C9-5611-CEAE-9D2952EBD20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32873" y="244810"/>
            <a:ext cx="10515600" cy="597401"/>
          </a:xfrm>
        </p:spPr>
        <p:txBody>
          <a:bodyPr>
            <a:normAutofit/>
          </a:bodyPr>
          <a:lstStyle/>
          <a:p>
            <a:r>
              <a:rPr lang="en-RU" sz="3200" dirty="0"/>
              <a:t>Systems modelling approach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E3234CE-0C66-097D-4D79-0D6000108DE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32873" y="952583"/>
            <a:ext cx="11153273" cy="5436185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lang="en-RU" sz="1800" dirty="0"/>
              <a:t>Steps emplyed:</a:t>
            </a:r>
          </a:p>
          <a:p>
            <a:pPr marL="0" indent="0">
              <a:buNone/>
            </a:pPr>
            <a:endParaRPr lang="en-RU" sz="1800" dirty="0"/>
          </a:p>
          <a:p>
            <a:pPr marL="342900" indent="-342900">
              <a:buAutoNum type="arabicPeriod"/>
            </a:pPr>
            <a:r>
              <a:rPr lang="en-RU" sz="1800" dirty="0"/>
              <a:t>Set all possible pairwise comparisons contrasts</a:t>
            </a:r>
          </a:p>
          <a:p>
            <a:pPr marL="342900" indent="-342900">
              <a:buAutoNum type="arabicPeriod"/>
            </a:pPr>
            <a:r>
              <a:rPr lang="en-GB" sz="1800" b="0" i="0" dirty="0">
                <a:solidFill>
                  <a:srgbClr val="CCCCCC"/>
                </a:solidFill>
                <a:effectLst/>
                <a:latin typeface="-apple-system"/>
              </a:rPr>
              <a:t>Calculate differential expression for each comparison</a:t>
            </a:r>
          </a:p>
          <a:p>
            <a:pPr marL="342900" indent="-342900">
              <a:buAutoNum type="arabicPeriod"/>
            </a:pPr>
            <a:r>
              <a:rPr lang="en-GB" sz="1800" b="0" i="0" dirty="0">
                <a:solidFill>
                  <a:srgbClr val="CCCCCC"/>
                </a:solidFill>
                <a:effectLst/>
                <a:latin typeface="-apple-system"/>
              </a:rPr>
              <a:t>Run GSEA across four pathway databases (Hallmark, KEGG, GO:BP, REACTOME)</a:t>
            </a:r>
          </a:p>
          <a:p>
            <a:pPr marL="342900" indent="-342900">
              <a:buAutoNum type="arabicPeriod"/>
            </a:pPr>
            <a:r>
              <a:rPr lang="en-GB" sz="1800" b="0" i="0" dirty="0">
                <a:solidFill>
                  <a:srgbClr val="CCCCCC"/>
                </a:solidFill>
                <a:effectLst/>
                <a:latin typeface="-apple-system"/>
              </a:rPr>
              <a:t>Pool significant pathways across all comparisons</a:t>
            </a:r>
          </a:p>
          <a:p>
            <a:pPr marL="342900" indent="-342900">
              <a:buAutoNum type="arabicPeriod"/>
            </a:pPr>
            <a:r>
              <a:rPr lang="en-GB" sz="1800" b="0" i="0" dirty="0">
                <a:solidFill>
                  <a:srgbClr val="CCCCCC"/>
                </a:solidFill>
                <a:effectLst/>
                <a:latin typeface="-apple-system"/>
              </a:rPr>
              <a:t>Generate pathway activity scores</a:t>
            </a:r>
          </a:p>
          <a:p>
            <a:pPr marL="342900" indent="-342900">
              <a:buAutoNum type="arabicPeriod"/>
            </a:pPr>
            <a:r>
              <a:rPr lang="en-GB" sz="1800" b="0" i="0" dirty="0">
                <a:solidFill>
                  <a:srgbClr val="CCCCCC"/>
                </a:solidFill>
                <a:effectLst/>
                <a:latin typeface="-apple-system"/>
              </a:rPr>
              <a:t>Visualize results in ordered heatmaps showing pathway </a:t>
            </a:r>
            <a:r>
              <a:rPr lang="en-GB" sz="1800" b="0" i="0" dirty="0" err="1">
                <a:solidFill>
                  <a:srgbClr val="CCCCCC"/>
                </a:solidFill>
                <a:effectLst/>
                <a:latin typeface="-apple-system"/>
              </a:rPr>
              <a:t>behavior</a:t>
            </a:r>
            <a:r>
              <a:rPr lang="en-GB" sz="1800" b="0" i="0" dirty="0">
                <a:solidFill>
                  <a:srgbClr val="CCCCCC"/>
                </a:solidFill>
                <a:effectLst/>
                <a:latin typeface="-apple-system"/>
              </a:rPr>
              <a:t> across all conditions</a:t>
            </a:r>
            <a:endParaRPr lang="en-RU" sz="1800" dirty="0"/>
          </a:p>
          <a:p>
            <a:pPr marL="0" indent="0">
              <a:buNone/>
            </a:pPr>
            <a:endParaRPr lang="en-RU" sz="1800" dirty="0"/>
          </a:p>
          <a:p>
            <a:pPr marL="0" indent="0">
              <a:buNone/>
            </a:pPr>
            <a:endParaRPr lang="en-RU" sz="1800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17624818-D0B1-C74A-EAE7-6CC77FF6D5E6}"/>
              </a:ext>
            </a:extLst>
          </p:cNvPr>
          <p:cNvSpPr/>
          <p:nvPr/>
        </p:nvSpPr>
        <p:spPr>
          <a:xfrm>
            <a:off x="332873" y="2117558"/>
            <a:ext cx="11470106" cy="4535905"/>
          </a:xfrm>
          <a:prstGeom prst="rect">
            <a:avLst/>
          </a:prstGeom>
          <a:solidFill>
            <a:schemeClr val="bg1">
              <a:lumMod val="85000"/>
            </a:schemeClr>
          </a:solidFill>
          <a:ln w="38100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/>
          </a:p>
        </p:txBody>
      </p:sp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53A9FF47-5AF2-E7E3-E119-49392FE4335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91508528"/>
              </p:ext>
            </p:extLst>
          </p:nvPr>
        </p:nvGraphicFramePr>
        <p:xfrm>
          <a:off x="481263" y="2968138"/>
          <a:ext cx="11153273" cy="2291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45950">
                  <a:extLst>
                    <a:ext uri="{9D8B030D-6E8A-4147-A177-3AD203B41FA5}">
                      <a16:colId xmlns:a16="http://schemas.microsoft.com/office/drawing/2014/main" val="3096202621"/>
                    </a:ext>
                  </a:extLst>
                </a:gridCol>
                <a:gridCol w="7507323">
                  <a:extLst>
                    <a:ext uri="{9D8B030D-6E8A-4147-A177-3AD203B41FA5}">
                      <a16:colId xmlns:a16="http://schemas.microsoft.com/office/drawing/2014/main" val="1807917024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RU" dirty="0"/>
                        <a:t>Question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RU" dirty="0"/>
                        <a:t>Statistical contrast 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7418180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800" b="0" i="0" u="none" dirty="0">
                          <a:effectLst/>
                        </a:rPr>
                        <a:t>RANKL effect on infection response at 4h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GB" sz="1800" b="0" dirty="0">
                          <a:effectLst/>
                        </a:rPr>
                        <a:t>(t4h_STm_100 - t4h_mock_100) - (t4h_STm_0 - t4h_mock_0)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6751917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800" b="0" i="0" u="none" dirty="0">
                          <a:effectLst/>
                        </a:rPr>
                        <a:t>RANKL effect on infection response at 24h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GB" sz="1800" b="0" dirty="0">
                          <a:effectLst/>
                        </a:rPr>
                        <a:t>(t24h_STm_100 - t24h_mock_100) - (t24h_STm_0 - t24h_mock_0)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9520876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sz="1800" b="0" u="none" dirty="0">
                          <a:effectLst/>
                        </a:rPr>
                        <a:t>RANKL time-dependent effect</a:t>
                      </a:r>
                      <a:endParaRPr lang="en-GB" sz="1800" b="0" u="none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GB" sz="1800" b="0" dirty="0">
                          <a:effectLst/>
                        </a:rPr>
                        <a:t>((t24h_STm_100 - t24h_mock_100) - (t24h_STm_0 - t24h_mock_0)) - ((t4h_STm_100 - t4h_mock_100) - (t4h_STm_0 - t4h_mock_0))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20068162"/>
                  </a:ext>
                </a:extLst>
              </a:tr>
            </a:tbl>
          </a:graphicData>
        </a:graphic>
      </p:graphicFrame>
      <p:sp>
        <p:nvSpPr>
          <p:cNvPr id="8" name="TextBox 7">
            <a:extLst>
              <a:ext uri="{FF2B5EF4-FFF2-40B4-BE49-F238E27FC236}">
                <a16:creationId xmlns:a16="http://schemas.microsoft.com/office/drawing/2014/main" id="{53D48C81-AC3E-1CE7-22CF-7C1EAA7EDE83}"/>
              </a:ext>
            </a:extLst>
          </p:cNvPr>
          <p:cNvSpPr txBox="1"/>
          <p:nvPr/>
        </p:nvSpPr>
        <p:spPr>
          <a:xfrm>
            <a:off x="1695117" y="2279841"/>
            <a:ext cx="610001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GB" dirty="0">
                <a:latin typeface="-apple-system"/>
              </a:rPr>
              <a:t>B</a:t>
            </a:r>
            <a:r>
              <a:rPr lang="en-GB" b="0" i="0" dirty="0">
                <a:effectLst/>
                <a:latin typeface="-apple-system"/>
              </a:rPr>
              <a:t>) Granular RANKL effects on infections </a:t>
            </a:r>
            <a:r>
              <a:rPr lang="en-GB" b="0" i="0" dirty="0" err="1">
                <a:effectLst/>
                <a:latin typeface="-apple-system"/>
              </a:rPr>
              <a:t>contrats</a:t>
            </a:r>
            <a:endParaRPr lang="en-GB" b="0" i="0" dirty="0">
              <a:effectLst/>
              <a:latin typeface="-apple-system"/>
            </a:endParaRPr>
          </a:p>
        </p:txBody>
      </p:sp>
    </p:spTree>
    <p:extLst>
      <p:ext uri="{BB962C8B-B14F-4D97-AF65-F5344CB8AC3E}">
        <p14:creationId xmlns:p14="http://schemas.microsoft.com/office/powerpoint/2010/main" val="162177242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FF4C5ED-9ECC-DB9E-7E78-A931D3DCE7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28C36C7-44A2-7B58-B218-A9305466E49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32873" y="244810"/>
            <a:ext cx="10515600" cy="597401"/>
          </a:xfrm>
        </p:spPr>
        <p:txBody>
          <a:bodyPr>
            <a:normAutofit/>
          </a:bodyPr>
          <a:lstStyle/>
          <a:p>
            <a:r>
              <a:rPr lang="en-RU" sz="3200" dirty="0"/>
              <a:t>Statistical modelling approach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97C8867-E1DD-3E14-2B73-AE79A699BAC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32873" y="952583"/>
            <a:ext cx="11153273" cy="5785101"/>
          </a:xfrm>
        </p:spPr>
        <p:txBody>
          <a:bodyPr>
            <a:noAutofit/>
          </a:bodyPr>
          <a:lstStyle/>
          <a:p>
            <a:r>
              <a:rPr lang="en-RU" sz="1400" dirty="0"/>
              <a:t>As described previously: </a:t>
            </a:r>
          </a:p>
          <a:p>
            <a:endParaRPr lang="en-RU" sz="1400" dirty="0"/>
          </a:p>
          <a:p>
            <a:pPr>
              <a:buAutoNum type="arabicPeriod"/>
            </a:pPr>
            <a:r>
              <a:rPr lang="en-GB" sz="1400" b="1" u="sng" dirty="0">
                <a:effectLst/>
              </a:rPr>
              <a:t>RANKL effect on infection response at 4h</a:t>
            </a:r>
          </a:p>
          <a:p>
            <a:pPr marL="0" indent="0">
              <a:buNone/>
            </a:pPr>
            <a:r>
              <a:rPr lang="en-GB" sz="1400" b="1" dirty="0">
                <a:effectLst/>
              </a:rPr>
              <a:t>Contrast model: </a:t>
            </a:r>
            <a:r>
              <a:rPr lang="en-GB" sz="1400" b="0" dirty="0">
                <a:effectLst/>
              </a:rPr>
              <a:t>(t4h_STm_100 - t4h_mock_100) - (t4h_STm_0 - t4h_mock_0)</a:t>
            </a:r>
          </a:p>
          <a:p>
            <a:pPr marL="0" indent="0">
              <a:buNone/>
            </a:pPr>
            <a:r>
              <a:rPr lang="en-GB" sz="1400" b="1" dirty="0"/>
              <a:t>H0: </a:t>
            </a:r>
            <a:r>
              <a:rPr lang="en-GB" sz="1400" dirty="0"/>
              <a:t>The infection response at 4h is the same regardless of RANKL pretreatment</a:t>
            </a:r>
            <a:endParaRPr lang="en-GB" sz="1400" b="0" dirty="0">
              <a:effectLst/>
            </a:endParaRPr>
          </a:p>
          <a:p>
            <a:pPr marL="0" indent="0">
              <a:buNone/>
            </a:pPr>
            <a:r>
              <a:rPr lang="en-GB" sz="1400" b="1" dirty="0"/>
              <a:t>Question addressed: </a:t>
            </a:r>
            <a:r>
              <a:rPr lang="en-GB" sz="1400" dirty="0"/>
              <a:t>How does RANKL pretreatment modify the early (4h) transcriptional response to infection?</a:t>
            </a:r>
            <a:endParaRPr lang="en-GB" sz="1400" b="0" dirty="0">
              <a:effectLst/>
            </a:endParaRPr>
          </a:p>
          <a:p>
            <a:pPr marL="0" indent="0">
              <a:buNone/>
            </a:pPr>
            <a:endParaRPr lang="en-RU" sz="1400" dirty="0"/>
          </a:p>
          <a:p>
            <a:pPr marL="0" indent="0">
              <a:buNone/>
            </a:pPr>
            <a:r>
              <a:rPr lang="en-RU" sz="1400" b="1" u="sng" dirty="0"/>
              <a:t>2. </a:t>
            </a:r>
            <a:r>
              <a:rPr lang="en-GB" sz="1400" b="1" u="sng" dirty="0">
                <a:effectLst/>
              </a:rPr>
              <a:t>RANKL effect on infection response at 24h</a:t>
            </a:r>
          </a:p>
          <a:p>
            <a:pPr marL="0" indent="0">
              <a:buNone/>
            </a:pPr>
            <a:r>
              <a:rPr lang="en-GB" sz="1400" b="1" dirty="0">
                <a:effectLst/>
              </a:rPr>
              <a:t>Contrast model: </a:t>
            </a:r>
            <a:r>
              <a:rPr lang="en-GB" sz="1400" b="0" dirty="0">
                <a:effectLst/>
              </a:rPr>
              <a:t>(t24h_STm_100 - t24h_mock_100) - (t24h_STm_0 - t24h_mock_0)</a:t>
            </a:r>
          </a:p>
          <a:p>
            <a:pPr marL="0" indent="0">
              <a:buNone/>
            </a:pPr>
            <a:r>
              <a:rPr lang="en-GB" sz="1400" b="1" dirty="0"/>
              <a:t>H0: </a:t>
            </a:r>
            <a:r>
              <a:rPr lang="en-GB" sz="1400" dirty="0"/>
              <a:t>The infection response at 24h is the same regardless of RANKL pretreatment</a:t>
            </a:r>
            <a:endParaRPr lang="en-GB" sz="1400" b="1" dirty="0"/>
          </a:p>
          <a:p>
            <a:pPr marL="0" indent="0">
              <a:buNone/>
            </a:pPr>
            <a:r>
              <a:rPr lang="en-GB" sz="1400" b="1" dirty="0"/>
              <a:t>Question addressed: </a:t>
            </a:r>
            <a:r>
              <a:rPr lang="en-GB" sz="1400" dirty="0"/>
              <a:t>How does RANKL pretreatment modify the late (24h) transcriptional response to infection?</a:t>
            </a:r>
            <a:endParaRPr lang="en-GB" sz="1400" dirty="0">
              <a:effectLst/>
            </a:endParaRPr>
          </a:p>
          <a:p>
            <a:pPr marL="0" indent="0">
              <a:buNone/>
            </a:pPr>
            <a:endParaRPr lang="en-RU" sz="1400" dirty="0"/>
          </a:p>
          <a:p>
            <a:pPr marL="0" indent="0">
              <a:buNone/>
            </a:pPr>
            <a:r>
              <a:rPr lang="en-RU" sz="1400" b="1" u="sng" dirty="0"/>
              <a:t>3. </a:t>
            </a:r>
            <a:r>
              <a:rPr lang="en-GB" sz="1400" b="1" u="sng" dirty="0">
                <a:effectLst/>
              </a:rPr>
              <a:t>RANKL time-dependent effect</a:t>
            </a:r>
          </a:p>
          <a:p>
            <a:pPr marL="0" indent="0">
              <a:buNone/>
            </a:pPr>
            <a:r>
              <a:rPr lang="en-GB" sz="1400" b="1" dirty="0">
                <a:effectLst/>
              </a:rPr>
              <a:t>Contrast model:</a:t>
            </a:r>
            <a:r>
              <a:rPr lang="en-GB" sz="1400" b="1" dirty="0"/>
              <a:t> </a:t>
            </a:r>
            <a:r>
              <a:rPr lang="en-GB" sz="1400" b="0" dirty="0">
                <a:effectLst/>
              </a:rPr>
              <a:t>((t24h_STm_100 - t24h_mock_100) - (t24h_STm_0 - t24h_mock_0)) - ((t4h_STm_100 - t4h_mock_100) - (t4h_STm_0 - t4h_mock_0))</a:t>
            </a:r>
          </a:p>
          <a:p>
            <a:pPr marL="0" indent="0">
              <a:buNone/>
            </a:pPr>
            <a:r>
              <a:rPr lang="en-GB" sz="1400" b="1" dirty="0"/>
              <a:t>H0: </a:t>
            </a:r>
            <a:r>
              <a:rPr lang="en-GB" sz="1400" dirty="0"/>
              <a:t>RANKL's effect on infection response is consistent between early and late timepoints </a:t>
            </a:r>
            <a:endParaRPr lang="en-GB" sz="1400" b="1" dirty="0"/>
          </a:p>
          <a:p>
            <a:pPr marL="0" indent="0">
              <a:buNone/>
            </a:pPr>
            <a:r>
              <a:rPr lang="en-GB" sz="1400" b="1" dirty="0"/>
              <a:t>Question addressed: </a:t>
            </a:r>
            <a:r>
              <a:rPr lang="en-GB" sz="1400" dirty="0">
                <a:effectLst/>
              </a:rPr>
              <a:t>How does RANKL's modulation of infection response change over time? </a:t>
            </a:r>
            <a:endParaRPr lang="en-GB" sz="1400" dirty="0"/>
          </a:p>
          <a:p>
            <a:pPr marL="0" indent="0">
              <a:buNone/>
            </a:pPr>
            <a:r>
              <a:rPr lang="en-GB" sz="1400" dirty="0">
                <a:effectLst/>
              </a:rPr>
              <a:t>The approach may be harder to interpret, because of more complex statistical modelling. </a:t>
            </a:r>
          </a:p>
          <a:p>
            <a:pPr marL="0" indent="0">
              <a:buNone/>
            </a:pPr>
            <a:endParaRPr lang="en-RU" sz="1400" dirty="0"/>
          </a:p>
        </p:txBody>
      </p:sp>
    </p:spTree>
    <p:extLst>
      <p:ext uri="{BB962C8B-B14F-4D97-AF65-F5344CB8AC3E}">
        <p14:creationId xmlns:p14="http://schemas.microsoft.com/office/powerpoint/2010/main" val="139158795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56031A9-8D06-E3E1-AD4C-905C35CCC2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3AB86CF-9012-E886-C8DE-95E1069B6C7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32873" y="244810"/>
            <a:ext cx="10515600" cy="597401"/>
          </a:xfrm>
        </p:spPr>
        <p:txBody>
          <a:bodyPr>
            <a:normAutofit/>
          </a:bodyPr>
          <a:lstStyle/>
          <a:p>
            <a:r>
              <a:rPr lang="en-RU" sz="3200" dirty="0"/>
              <a:t>Systems modelling approach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750946B-B7CB-4535-0FCB-FD30813DE52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32873" y="952583"/>
            <a:ext cx="11153273" cy="5436185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lang="en-RU" sz="1800" dirty="0"/>
              <a:t>Steps emplyed:</a:t>
            </a:r>
          </a:p>
          <a:p>
            <a:pPr marL="0" indent="0">
              <a:buNone/>
            </a:pPr>
            <a:endParaRPr lang="en-RU" sz="1800" dirty="0"/>
          </a:p>
          <a:p>
            <a:pPr marL="342900" indent="-342900">
              <a:buAutoNum type="arabicPeriod"/>
            </a:pPr>
            <a:r>
              <a:rPr lang="en-RU" sz="1800" dirty="0">
                <a:solidFill>
                  <a:schemeClr val="bg2">
                    <a:lumMod val="90000"/>
                  </a:schemeClr>
                </a:solidFill>
              </a:rPr>
              <a:t>Set all possible pairwise comparisons contrasts</a:t>
            </a:r>
          </a:p>
          <a:p>
            <a:pPr marL="342900" indent="-342900">
              <a:buAutoNum type="arabicPeriod"/>
            </a:pPr>
            <a:r>
              <a:rPr lang="en-RU" sz="1800" dirty="0"/>
              <a:t>Calculate differential expression for each comparison</a:t>
            </a:r>
          </a:p>
          <a:p>
            <a:pPr marL="342900" indent="-342900">
              <a:buAutoNum type="arabicPeriod"/>
            </a:pPr>
            <a:r>
              <a:rPr lang="en-GB" sz="1800" b="0" i="0" dirty="0">
                <a:solidFill>
                  <a:srgbClr val="CCCCCC"/>
                </a:solidFill>
                <a:effectLst/>
              </a:rPr>
              <a:t>Run GSEA across four pathway databases (Hallmark, KEGG, GO:BP, REACTOME)</a:t>
            </a:r>
          </a:p>
          <a:p>
            <a:pPr marL="342900" indent="-342900">
              <a:buAutoNum type="arabicPeriod"/>
            </a:pPr>
            <a:r>
              <a:rPr lang="en-GB" sz="1800" b="0" i="0" dirty="0">
                <a:solidFill>
                  <a:srgbClr val="CCCCCC"/>
                </a:solidFill>
                <a:effectLst/>
              </a:rPr>
              <a:t>Pool significant pathways across all comparisons</a:t>
            </a:r>
          </a:p>
          <a:p>
            <a:pPr marL="342900" indent="-342900">
              <a:buAutoNum type="arabicPeriod"/>
            </a:pPr>
            <a:r>
              <a:rPr lang="en-GB" sz="1800" b="0" i="0" dirty="0">
                <a:solidFill>
                  <a:srgbClr val="CCCCCC"/>
                </a:solidFill>
                <a:effectLst/>
              </a:rPr>
              <a:t>Generate pathway activity scores</a:t>
            </a:r>
          </a:p>
          <a:p>
            <a:pPr marL="342900" indent="-342900">
              <a:buAutoNum type="arabicPeriod"/>
            </a:pPr>
            <a:r>
              <a:rPr lang="en-GB" sz="1800" b="0" i="0" dirty="0">
                <a:solidFill>
                  <a:srgbClr val="CCCCCC"/>
                </a:solidFill>
                <a:effectLst/>
              </a:rPr>
              <a:t>Visualize results in ordered heatmaps showing pathway </a:t>
            </a:r>
            <a:r>
              <a:rPr lang="en-GB" sz="1800" b="0" i="0" dirty="0" err="1">
                <a:solidFill>
                  <a:srgbClr val="CCCCCC"/>
                </a:solidFill>
                <a:effectLst/>
              </a:rPr>
              <a:t>behavior</a:t>
            </a:r>
            <a:r>
              <a:rPr lang="en-GB" sz="1800" b="0" i="0" dirty="0">
                <a:solidFill>
                  <a:srgbClr val="CCCCCC"/>
                </a:solidFill>
                <a:effectLst/>
              </a:rPr>
              <a:t> across all conditions</a:t>
            </a:r>
            <a:endParaRPr lang="en-RU" sz="1800" dirty="0"/>
          </a:p>
          <a:p>
            <a:pPr marL="0" indent="0">
              <a:buNone/>
            </a:pPr>
            <a:endParaRPr lang="en-RU" sz="1800" dirty="0"/>
          </a:p>
          <a:p>
            <a:pPr marL="0" indent="0">
              <a:buNone/>
            </a:pPr>
            <a:endParaRPr lang="en-RU" sz="1800" dirty="0"/>
          </a:p>
        </p:txBody>
      </p:sp>
    </p:spTree>
    <p:extLst>
      <p:ext uri="{BB962C8B-B14F-4D97-AF65-F5344CB8AC3E}">
        <p14:creationId xmlns:p14="http://schemas.microsoft.com/office/powerpoint/2010/main" val="101684662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B6710EC-C817-D6BA-9A9B-BB96159593C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65514F5-130C-66EE-4AFD-AE80ACC3300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32873" y="244810"/>
            <a:ext cx="10515600" cy="597401"/>
          </a:xfrm>
        </p:spPr>
        <p:txBody>
          <a:bodyPr>
            <a:normAutofit/>
          </a:bodyPr>
          <a:lstStyle/>
          <a:p>
            <a:r>
              <a:rPr lang="en-RU" sz="3200" dirty="0"/>
              <a:t>Systems modelling approach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67D69DF-84F6-3658-7824-605E63852B2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32873" y="952583"/>
            <a:ext cx="11153273" cy="5436185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lang="en-RU" sz="1800" dirty="0"/>
              <a:t>Steps emplyed:</a:t>
            </a:r>
          </a:p>
          <a:p>
            <a:pPr marL="0" indent="0">
              <a:buNone/>
            </a:pPr>
            <a:endParaRPr lang="en-RU" sz="1800" dirty="0"/>
          </a:p>
          <a:p>
            <a:pPr marL="342900" indent="-342900">
              <a:buAutoNum type="arabicPeriod"/>
            </a:pPr>
            <a:r>
              <a:rPr lang="en-RU" sz="1800" dirty="0">
                <a:solidFill>
                  <a:schemeClr val="bg2">
                    <a:lumMod val="90000"/>
                  </a:schemeClr>
                </a:solidFill>
              </a:rPr>
              <a:t>Set all possible pairwise comparisons contrasts</a:t>
            </a:r>
          </a:p>
          <a:p>
            <a:pPr marL="342900" indent="-342900">
              <a:buAutoNum type="arabicPeriod"/>
            </a:pPr>
            <a:r>
              <a:rPr lang="en-RU" sz="1800" dirty="0">
                <a:solidFill>
                  <a:schemeClr val="bg2">
                    <a:lumMod val="90000"/>
                  </a:schemeClr>
                </a:solidFill>
              </a:rPr>
              <a:t>Calculate differential expression for each comparison</a:t>
            </a:r>
          </a:p>
          <a:p>
            <a:pPr marL="342900" indent="-342900">
              <a:buAutoNum type="arabicPeriod"/>
            </a:pPr>
            <a:r>
              <a:rPr lang="en-GB" sz="1800" b="0" i="0" dirty="0">
                <a:effectLst/>
              </a:rPr>
              <a:t>Run GSEA for each contrast across four pathway databases (Hallmark, KEGG, GO:BP, REACTOME)</a:t>
            </a:r>
          </a:p>
          <a:p>
            <a:pPr marL="342900" indent="-342900">
              <a:buAutoNum type="arabicPeriod"/>
            </a:pPr>
            <a:r>
              <a:rPr lang="en-GB" sz="1800" b="0" i="0" dirty="0">
                <a:solidFill>
                  <a:srgbClr val="CCCCCC"/>
                </a:solidFill>
                <a:effectLst/>
              </a:rPr>
              <a:t>Pool significant pathways across all comparisons</a:t>
            </a:r>
          </a:p>
          <a:p>
            <a:pPr marL="342900" indent="-342900">
              <a:buAutoNum type="arabicPeriod"/>
            </a:pPr>
            <a:r>
              <a:rPr lang="en-GB" sz="1800" b="0" i="0" dirty="0">
                <a:solidFill>
                  <a:srgbClr val="CCCCCC"/>
                </a:solidFill>
                <a:effectLst/>
              </a:rPr>
              <a:t>Generate pathway activity scores</a:t>
            </a:r>
          </a:p>
          <a:p>
            <a:pPr marL="342900" indent="-342900">
              <a:buAutoNum type="arabicPeriod"/>
            </a:pPr>
            <a:r>
              <a:rPr lang="en-GB" sz="1800" b="0" i="0" dirty="0">
                <a:solidFill>
                  <a:srgbClr val="CCCCCC"/>
                </a:solidFill>
                <a:effectLst/>
              </a:rPr>
              <a:t>Visualize results in ordered heatmaps showing pathway </a:t>
            </a:r>
            <a:r>
              <a:rPr lang="en-GB" sz="1800" b="0" i="0" dirty="0" err="1">
                <a:solidFill>
                  <a:srgbClr val="CCCCCC"/>
                </a:solidFill>
                <a:effectLst/>
              </a:rPr>
              <a:t>behavior</a:t>
            </a:r>
            <a:r>
              <a:rPr lang="en-GB" sz="1800" b="0" i="0" dirty="0">
                <a:solidFill>
                  <a:srgbClr val="CCCCCC"/>
                </a:solidFill>
                <a:effectLst/>
              </a:rPr>
              <a:t> across all conditions</a:t>
            </a:r>
            <a:endParaRPr lang="en-RU" sz="1800" dirty="0"/>
          </a:p>
          <a:p>
            <a:pPr marL="0" indent="0">
              <a:buNone/>
            </a:pPr>
            <a:endParaRPr lang="en-RU" sz="1800" dirty="0"/>
          </a:p>
          <a:p>
            <a:pPr marL="0" indent="0">
              <a:buNone/>
            </a:pPr>
            <a:endParaRPr lang="en-RU" sz="1800" dirty="0"/>
          </a:p>
        </p:txBody>
      </p:sp>
    </p:spTree>
    <p:extLst>
      <p:ext uri="{BB962C8B-B14F-4D97-AF65-F5344CB8AC3E}">
        <p14:creationId xmlns:p14="http://schemas.microsoft.com/office/powerpoint/2010/main" val="134022622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4B77F8B-8E2D-ED10-A8B5-9AF6ABCE1EF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EEE6CAF-8B5F-9B5B-3EFC-90205C567AD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32873" y="244810"/>
            <a:ext cx="10515600" cy="597401"/>
          </a:xfrm>
        </p:spPr>
        <p:txBody>
          <a:bodyPr>
            <a:normAutofit/>
          </a:bodyPr>
          <a:lstStyle/>
          <a:p>
            <a:r>
              <a:rPr lang="en-RU" sz="3200" dirty="0"/>
              <a:t>Systems modelling approach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6079C12-523F-765A-7CF3-20B808FFB19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32873" y="952583"/>
            <a:ext cx="11153273" cy="5436185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lang="en-RU" sz="1800" dirty="0"/>
              <a:t>Steps emplyed:</a:t>
            </a:r>
          </a:p>
          <a:p>
            <a:pPr marL="0" indent="0">
              <a:buNone/>
            </a:pPr>
            <a:endParaRPr lang="en-RU" sz="1800" dirty="0"/>
          </a:p>
          <a:p>
            <a:pPr marL="342900" indent="-342900">
              <a:buAutoNum type="arabicPeriod"/>
            </a:pPr>
            <a:r>
              <a:rPr lang="en-RU" sz="1800" dirty="0">
                <a:solidFill>
                  <a:schemeClr val="bg2">
                    <a:lumMod val="90000"/>
                  </a:schemeClr>
                </a:solidFill>
              </a:rPr>
              <a:t>Set all possible pairwise comparisons contrasts</a:t>
            </a:r>
          </a:p>
          <a:p>
            <a:pPr marL="342900" indent="-342900">
              <a:buAutoNum type="arabicPeriod"/>
            </a:pPr>
            <a:r>
              <a:rPr lang="en-RU" sz="1800" dirty="0">
                <a:solidFill>
                  <a:schemeClr val="bg2">
                    <a:lumMod val="90000"/>
                  </a:schemeClr>
                </a:solidFill>
              </a:rPr>
              <a:t>Calculate differential expression for each comparison</a:t>
            </a:r>
          </a:p>
          <a:p>
            <a:pPr marL="342900" indent="-342900">
              <a:buAutoNum type="arabicPeriod"/>
            </a:pPr>
            <a:r>
              <a:rPr lang="en-GB" sz="1800" b="0" i="0" dirty="0">
                <a:solidFill>
                  <a:schemeClr val="bg2">
                    <a:lumMod val="90000"/>
                  </a:schemeClr>
                </a:solidFill>
                <a:effectLst/>
              </a:rPr>
              <a:t>Run GSEA for each contrast across four pathway databases (Hallmark, KEGG, GO:BP, REACTOME)</a:t>
            </a:r>
          </a:p>
          <a:p>
            <a:pPr marL="342900" indent="-342900">
              <a:buAutoNum type="arabicPeriod"/>
            </a:pPr>
            <a:r>
              <a:rPr lang="en-GB" sz="1800" b="0" i="0" dirty="0">
                <a:effectLst/>
              </a:rPr>
              <a:t>Pool significant pathways across all comparisons (p-value threshold 0.01 due to number of pathways)</a:t>
            </a:r>
          </a:p>
          <a:p>
            <a:pPr marL="342900" indent="-342900">
              <a:buAutoNum type="arabicPeriod"/>
            </a:pPr>
            <a:r>
              <a:rPr lang="en-GB" sz="1800" b="0" i="0" dirty="0">
                <a:solidFill>
                  <a:srgbClr val="CCCCCC"/>
                </a:solidFill>
                <a:effectLst/>
              </a:rPr>
              <a:t>Generate pathway activity scores</a:t>
            </a:r>
          </a:p>
          <a:p>
            <a:pPr marL="342900" indent="-342900">
              <a:buAutoNum type="arabicPeriod"/>
            </a:pPr>
            <a:r>
              <a:rPr lang="en-GB" sz="1800" b="0" i="0" dirty="0">
                <a:solidFill>
                  <a:srgbClr val="CCCCCC"/>
                </a:solidFill>
                <a:effectLst/>
              </a:rPr>
              <a:t>Visualize results in ordered heatmaps showing pathway </a:t>
            </a:r>
            <a:r>
              <a:rPr lang="en-GB" sz="1800" b="0" i="0" dirty="0" err="1">
                <a:solidFill>
                  <a:srgbClr val="CCCCCC"/>
                </a:solidFill>
                <a:effectLst/>
              </a:rPr>
              <a:t>behavior</a:t>
            </a:r>
            <a:r>
              <a:rPr lang="en-GB" sz="1800" b="0" i="0" dirty="0">
                <a:solidFill>
                  <a:srgbClr val="CCCCCC"/>
                </a:solidFill>
                <a:effectLst/>
              </a:rPr>
              <a:t> across all conditions</a:t>
            </a:r>
            <a:endParaRPr lang="en-RU" sz="1800" dirty="0"/>
          </a:p>
          <a:p>
            <a:pPr marL="0" indent="0">
              <a:buNone/>
            </a:pPr>
            <a:endParaRPr lang="en-RU" sz="1800" dirty="0"/>
          </a:p>
          <a:p>
            <a:pPr marL="0" indent="0">
              <a:buNone/>
            </a:pPr>
            <a:endParaRPr lang="en-RU" sz="1800" dirty="0"/>
          </a:p>
        </p:txBody>
      </p:sp>
    </p:spTree>
    <p:extLst>
      <p:ext uri="{BB962C8B-B14F-4D97-AF65-F5344CB8AC3E}">
        <p14:creationId xmlns:p14="http://schemas.microsoft.com/office/powerpoint/2010/main" val="380821519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7C133F3-4F56-3E15-67DC-9A9C66F750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04B7403-3473-FD23-864C-5A3C883E709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32873" y="244810"/>
            <a:ext cx="10515600" cy="597401"/>
          </a:xfrm>
        </p:spPr>
        <p:txBody>
          <a:bodyPr>
            <a:normAutofit/>
          </a:bodyPr>
          <a:lstStyle/>
          <a:p>
            <a:r>
              <a:rPr lang="en-RU" sz="3200" dirty="0"/>
              <a:t>Systems modelling approach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0AC3091-268D-C32F-96DF-8EF6FAA4159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32873" y="952583"/>
            <a:ext cx="11153273" cy="5436185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lang="en-RU" sz="1800" dirty="0"/>
              <a:t>Steps emplyed:</a:t>
            </a:r>
          </a:p>
          <a:p>
            <a:pPr marL="0" indent="0">
              <a:buNone/>
            </a:pPr>
            <a:endParaRPr lang="en-RU" sz="1800" dirty="0"/>
          </a:p>
          <a:p>
            <a:pPr marL="342900" indent="-342900">
              <a:buAutoNum type="arabicPeriod"/>
            </a:pPr>
            <a:r>
              <a:rPr lang="en-RU" sz="1800" dirty="0">
                <a:solidFill>
                  <a:schemeClr val="bg2">
                    <a:lumMod val="90000"/>
                  </a:schemeClr>
                </a:solidFill>
              </a:rPr>
              <a:t>Set all possible pairwise comparisons contrasts</a:t>
            </a:r>
          </a:p>
          <a:p>
            <a:pPr marL="342900" indent="-342900">
              <a:buAutoNum type="arabicPeriod"/>
            </a:pPr>
            <a:r>
              <a:rPr lang="en-RU" sz="1800" dirty="0">
                <a:solidFill>
                  <a:schemeClr val="bg2">
                    <a:lumMod val="90000"/>
                  </a:schemeClr>
                </a:solidFill>
              </a:rPr>
              <a:t>Calculate differential expression for each comparison</a:t>
            </a:r>
          </a:p>
          <a:p>
            <a:pPr marL="342900" indent="-342900">
              <a:buAutoNum type="arabicPeriod"/>
            </a:pPr>
            <a:r>
              <a:rPr lang="en-GB" sz="1800" b="0" i="0" dirty="0">
                <a:solidFill>
                  <a:schemeClr val="bg2">
                    <a:lumMod val="90000"/>
                  </a:schemeClr>
                </a:solidFill>
                <a:effectLst/>
              </a:rPr>
              <a:t>Run GSEA for each contrast across four pathway databases (Hallmark, KEGG, GO:BP, REACTOME)</a:t>
            </a:r>
          </a:p>
          <a:p>
            <a:pPr marL="342900" indent="-342900">
              <a:buAutoNum type="arabicPeriod"/>
            </a:pPr>
            <a:r>
              <a:rPr lang="en-GB" sz="1800" b="0" i="0" dirty="0">
                <a:solidFill>
                  <a:schemeClr val="bg2">
                    <a:lumMod val="90000"/>
                  </a:schemeClr>
                </a:solidFill>
                <a:effectLst/>
              </a:rPr>
              <a:t>Pool significant pathways across all comparisons (p-value threshold 0.01 due to number of pathways)</a:t>
            </a:r>
          </a:p>
          <a:p>
            <a:pPr marL="342900" indent="-342900">
              <a:buAutoNum type="arabicPeriod"/>
            </a:pPr>
            <a:r>
              <a:rPr lang="en-GB" sz="1800" b="0" i="0" dirty="0">
                <a:effectLst/>
              </a:rPr>
              <a:t>Calculate pathway activity scores for the pooled GSE terms for each sample </a:t>
            </a:r>
          </a:p>
          <a:p>
            <a:pPr marL="342900" indent="-342900">
              <a:buAutoNum type="arabicPeriod"/>
            </a:pPr>
            <a:r>
              <a:rPr lang="en-GB" sz="1800" b="0" i="0" dirty="0">
                <a:solidFill>
                  <a:srgbClr val="CCCCCC"/>
                </a:solidFill>
                <a:effectLst/>
              </a:rPr>
              <a:t>Visualize results in ordered heatmaps showing pathway </a:t>
            </a:r>
            <a:r>
              <a:rPr lang="en-GB" sz="1800" b="0" i="0" dirty="0" err="1">
                <a:solidFill>
                  <a:srgbClr val="CCCCCC"/>
                </a:solidFill>
                <a:effectLst/>
              </a:rPr>
              <a:t>behavior</a:t>
            </a:r>
            <a:r>
              <a:rPr lang="en-GB" sz="1800" b="0" i="0" dirty="0">
                <a:solidFill>
                  <a:srgbClr val="CCCCCC"/>
                </a:solidFill>
                <a:effectLst/>
              </a:rPr>
              <a:t> across all conditions</a:t>
            </a:r>
            <a:endParaRPr lang="en-RU" sz="1800" dirty="0"/>
          </a:p>
          <a:p>
            <a:pPr marL="0" indent="0">
              <a:buNone/>
            </a:pPr>
            <a:endParaRPr lang="en-RU" sz="1800" dirty="0"/>
          </a:p>
          <a:p>
            <a:pPr marL="0" indent="0">
              <a:buNone/>
            </a:pPr>
            <a:endParaRPr lang="en-RU" sz="1800" dirty="0"/>
          </a:p>
        </p:txBody>
      </p:sp>
    </p:spTree>
    <p:extLst>
      <p:ext uri="{BB962C8B-B14F-4D97-AF65-F5344CB8AC3E}">
        <p14:creationId xmlns:p14="http://schemas.microsoft.com/office/powerpoint/2010/main" val="311472081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B6B8754-5A2E-0032-5FCE-5592050080F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FAE79BB-A282-3DEE-C0A6-2841DF6367A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32873" y="244810"/>
            <a:ext cx="10515600" cy="597401"/>
          </a:xfrm>
        </p:spPr>
        <p:txBody>
          <a:bodyPr>
            <a:normAutofit/>
          </a:bodyPr>
          <a:lstStyle/>
          <a:p>
            <a:r>
              <a:rPr lang="en-RU" sz="3200" dirty="0"/>
              <a:t>Systems modelling approach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F30DDD8-49A6-85B3-1654-7E5C8B7C19F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32873" y="952583"/>
            <a:ext cx="11153273" cy="5436185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lang="en-RU" sz="1800" dirty="0"/>
              <a:t>Steps emplyed:</a:t>
            </a:r>
          </a:p>
          <a:p>
            <a:pPr marL="0" indent="0">
              <a:buNone/>
            </a:pPr>
            <a:endParaRPr lang="en-RU" sz="1800" dirty="0"/>
          </a:p>
          <a:p>
            <a:pPr marL="342900" indent="-342900">
              <a:buAutoNum type="arabicPeriod"/>
            </a:pPr>
            <a:r>
              <a:rPr lang="en-RU" sz="1800" dirty="0">
                <a:solidFill>
                  <a:schemeClr val="bg2">
                    <a:lumMod val="90000"/>
                  </a:schemeClr>
                </a:solidFill>
              </a:rPr>
              <a:t>Set all possible pairwise comparisons contrasts</a:t>
            </a:r>
          </a:p>
          <a:p>
            <a:pPr marL="342900" indent="-342900">
              <a:buAutoNum type="arabicPeriod"/>
            </a:pPr>
            <a:r>
              <a:rPr lang="en-RU" sz="1800" dirty="0">
                <a:solidFill>
                  <a:schemeClr val="bg2">
                    <a:lumMod val="90000"/>
                  </a:schemeClr>
                </a:solidFill>
              </a:rPr>
              <a:t>Calculate differential expression for each comparison</a:t>
            </a:r>
          </a:p>
          <a:p>
            <a:pPr marL="342900" indent="-342900">
              <a:buAutoNum type="arabicPeriod"/>
            </a:pPr>
            <a:r>
              <a:rPr lang="en-GB" sz="1800" b="0" i="0" dirty="0">
                <a:solidFill>
                  <a:schemeClr val="bg2">
                    <a:lumMod val="90000"/>
                  </a:schemeClr>
                </a:solidFill>
                <a:effectLst/>
              </a:rPr>
              <a:t>Run GSEA for each contrast across four pathway databases (Hallmark, KEGG, GO:BP, REACTOME)</a:t>
            </a:r>
          </a:p>
          <a:p>
            <a:pPr marL="342900" indent="-342900">
              <a:buAutoNum type="arabicPeriod"/>
            </a:pPr>
            <a:r>
              <a:rPr lang="en-GB" sz="1800" b="0" i="0" dirty="0">
                <a:solidFill>
                  <a:schemeClr val="bg2">
                    <a:lumMod val="90000"/>
                  </a:schemeClr>
                </a:solidFill>
                <a:effectLst/>
              </a:rPr>
              <a:t>Pool significant pathways across all comparisons (p-value threshold 0.01 due to number of pathways)</a:t>
            </a:r>
          </a:p>
          <a:p>
            <a:pPr marL="342900" indent="-342900">
              <a:buAutoNum type="arabicPeriod"/>
            </a:pPr>
            <a:r>
              <a:rPr lang="en-GB" sz="1800" b="0" i="0" dirty="0">
                <a:solidFill>
                  <a:schemeClr val="bg2">
                    <a:lumMod val="90000"/>
                  </a:schemeClr>
                </a:solidFill>
                <a:effectLst/>
              </a:rPr>
              <a:t>Calculate pathway activity scores for the pooled GSE terms for each sample </a:t>
            </a:r>
          </a:p>
          <a:p>
            <a:pPr marL="342900" indent="-342900">
              <a:buAutoNum type="arabicPeriod"/>
            </a:pPr>
            <a:r>
              <a:rPr lang="en-GB" sz="1800" b="0" i="0" dirty="0">
                <a:effectLst/>
              </a:rPr>
              <a:t>Visualize results in ordered heatmaps showing pathway </a:t>
            </a:r>
            <a:r>
              <a:rPr lang="en-GB" sz="1800" b="0" i="0" dirty="0" err="1">
                <a:effectLst/>
              </a:rPr>
              <a:t>behavior</a:t>
            </a:r>
            <a:r>
              <a:rPr lang="en-GB" sz="1800" b="0" i="0" dirty="0">
                <a:effectLst/>
              </a:rPr>
              <a:t> across all conditions (top 30)</a:t>
            </a:r>
            <a:endParaRPr lang="en-RU" sz="1800" dirty="0"/>
          </a:p>
          <a:p>
            <a:pPr marL="0" indent="0">
              <a:buNone/>
            </a:pPr>
            <a:endParaRPr lang="en-RU" sz="1800" dirty="0"/>
          </a:p>
          <a:p>
            <a:pPr marL="0" indent="0">
              <a:buNone/>
            </a:pPr>
            <a:endParaRPr lang="en-RU" sz="1800" dirty="0"/>
          </a:p>
        </p:txBody>
      </p:sp>
    </p:spTree>
    <p:extLst>
      <p:ext uri="{BB962C8B-B14F-4D97-AF65-F5344CB8AC3E}">
        <p14:creationId xmlns:p14="http://schemas.microsoft.com/office/powerpoint/2010/main" val="35003345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C5B6BFFB-72D8-9730-3603-71B02938F06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32873" y="244810"/>
            <a:ext cx="10515600" cy="597401"/>
          </a:xfrm>
        </p:spPr>
        <p:txBody>
          <a:bodyPr>
            <a:normAutofit/>
          </a:bodyPr>
          <a:lstStyle/>
          <a:p>
            <a:r>
              <a:rPr lang="en-RU" sz="3200" dirty="0"/>
              <a:t>Pooled GSE-terms: Hallmark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6A1FCDAD-711A-5450-3527-29238EBA0F1F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r="11384"/>
          <a:stretch/>
        </p:blipFill>
        <p:spPr>
          <a:xfrm>
            <a:off x="116305" y="1816768"/>
            <a:ext cx="5213684" cy="3922296"/>
          </a:xfrm>
          <a:prstGeom prst="rect">
            <a:avLst/>
          </a:prstGeom>
        </p:spPr>
      </p:pic>
      <p:sp>
        <p:nvSpPr>
          <p:cNvPr id="7" name="Title 1">
            <a:extLst>
              <a:ext uri="{FF2B5EF4-FFF2-40B4-BE49-F238E27FC236}">
                <a16:creationId xmlns:a16="http://schemas.microsoft.com/office/drawing/2014/main" id="{69F47FCC-FE57-DF3E-3C7E-A81A93AFAD5D}"/>
              </a:ext>
            </a:extLst>
          </p:cNvPr>
          <p:cNvSpPr txBox="1">
            <a:spLocks/>
          </p:cNvSpPr>
          <p:nvPr/>
        </p:nvSpPr>
        <p:spPr>
          <a:xfrm>
            <a:off x="332873" y="1050925"/>
            <a:ext cx="2350169" cy="59740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RU" sz="1800" dirty="0"/>
              <a:t>A) Pair-wise contrasts</a:t>
            </a:r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8B6555B8-FC73-D3FF-4DFC-5372EB1226BB}"/>
              </a:ext>
            </a:extLst>
          </p:cNvPr>
          <p:cNvSpPr txBox="1">
            <a:spLocks/>
          </p:cNvSpPr>
          <p:nvPr/>
        </p:nvSpPr>
        <p:spPr>
          <a:xfrm>
            <a:off x="6212305" y="1050925"/>
            <a:ext cx="2967790" cy="59740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RU" sz="1800" dirty="0"/>
              <a:t>A) Granlular RANKL contrats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F582D772-9AE5-BD26-48FA-C7FE7BDD938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99748" y="1857039"/>
            <a:ext cx="5883443" cy="392229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8931800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B823E83-D06A-D138-9EFE-046806BD5F0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FDB564D3-28C8-0ED4-F6DC-9D3C6BDC8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32873" y="244810"/>
            <a:ext cx="10515600" cy="597401"/>
          </a:xfrm>
        </p:spPr>
        <p:txBody>
          <a:bodyPr>
            <a:normAutofit/>
          </a:bodyPr>
          <a:lstStyle/>
          <a:p>
            <a:r>
              <a:rPr lang="en-RU" sz="3200" dirty="0"/>
              <a:t>Pooled GSE-terms: GO-BP</a:t>
            </a:r>
          </a:p>
        </p:txBody>
      </p:sp>
      <p:sp>
        <p:nvSpPr>
          <p:cNvPr id="7" name="Title 1">
            <a:extLst>
              <a:ext uri="{FF2B5EF4-FFF2-40B4-BE49-F238E27FC236}">
                <a16:creationId xmlns:a16="http://schemas.microsoft.com/office/drawing/2014/main" id="{DF0A8BF6-0CAA-DC06-58B6-247661963553}"/>
              </a:ext>
            </a:extLst>
          </p:cNvPr>
          <p:cNvSpPr txBox="1">
            <a:spLocks/>
          </p:cNvSpPr>
          <p:nvPr/>
        </p:nvSpPr>
        <p:spPr>
          <a:xfrm>
            <a:off x="332873" y="1050925"/>
            <a:ext cx="2350169" cy="59740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RU" sz="1800" dirty="0"/>
              <a:t>A) Pair-wise contrasts</a:t>
            </a:r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7BAF80D0-44A2-1798-332C-985D5FE5AAB6}"/>
              </a:ext>
            </a:extLst>
          </p:cNvPr>
          <p:cNvSpPr txBox="1">
            <a:spLocks/>
          </p:cNvSpPr>
          <p:nvPr/>
        </p:nvSpPr>
        <p:spPr>
          <a:xfrm>
            <a:off x="6212305" y="1050925"/>
            <a:ext cx="2967790" cy="59740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RU" sz="1800" dirty="0"/>
              <a:t>A) Granlular RANKL contrats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5F22D5B7-0D9C-BBC6-0225-7478A0E524B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97479" y="1816768"/>
            <a:ext cx="5883444" cy="3922296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6203DA3E-1C77-05CB-65E9-E16F641E9A56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r="11327"/>
          <a:stretch/>
        </p:blipFill>
        <p:spPr>
          <a:xfrm>
            <a:off x="96502" y="1676400"/>
            <a:ext cx="5494171" cy="41306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68344021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432F57B-BFDB-A6EA-36F0-A6658E5733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138E9E83-0063-C7D5-3BBE-D7328E9B0A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32873" y="244810"/>
            <a:ext cx="10515600" cy="597401"/>
          </a:xfrm>
        </p:spPr>
        <p:txBody>
          <a:bodyPr>
            <a:normAutofit/>
          </a:bodyPr>
          <a:lstStyle/>
          <a:p>
            <a:r>
              <a:rPr lang="en-RU" sz="3200" dirty="0"/>
              <a:t>Pooled GSE-terms: KEGG</a:t>
            </a:r>
          </a:p>
        </p:txBody>
      </p:sp>
      <p:sp>
        <p:nvSpPr>
          <p:cNvPr id="7" name="Title 1">
            <a:extLst>
              <a:ext uri="{FF2B5EF4-FFF2-40B4-BE49-F238E27FC236}">
                <a16:creationId xmlns:a16="http://schemas.microsoft.com/office/drawing/2014/main" id="{07F8CED2-4DB1-C4E8-6F88-569E71517D50}"/>
              </a:ext>
            </a:extLst>
          </p:cNvPr>
          <p:cNvSpPr txBox="1">
            <a:spLocks/>
          </p:cNvSpPr>
          <p:nvPr/>
        </p:nvSpPr>
        <p:spPr>
          <a:xfrm>
            <a:off x="332873" y="1050925"/>
            <a:ext cx="2350169" cy="59740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RU" sz="1800" dirty="0"/>
              <a:t>A) Pair-wise contrasts</a:t>
            </a:r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B869B99A-FF2B-8539-F619-D51163E89196}"/>
              </a:ext>
            </a:extLst>
          </p:cNvPr>
          <p:cNvSpPr txBox="1">
            <a:spLocks/>
          </p:cNvSpPr>
          <p:nvPr/>
        </p:nvSpPr>
        <p:spPr>
          <a:xfrm>
            <a:off x="6212305" y="1050925"/>
            <a:ext cx="2967790" cy="59740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RU" sz="1800" dirty="0"/>
              <a:t>A) Granlular RANKL contrats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D5B7AF25-4081-BBDA-08E4-16732E3B956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43336" y="1648326"/>
            <a:ext cx="6238124" cy="4158749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2D268B4A-E6AF-CF66-DDC5-6CC687CD249B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r="11315"/>
          <a:stretch/>
        </p:blipFill>
        <p:spPr>
          <a:xfrm>
            <a:off x="110540" y="1648326"/>
            <a:ext cx="5532271" cy="415874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97665582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DC6BEF2-C882-E007-43E4-909C2382938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5AB11E80-DF2F-F099-7B00-A02D3444FD4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32873" y="244810"/>
            <a:ext cx="10515600" cy="597401"/>
          </a:xfrm>
        </p:spPr>
        <p:txBody>
          <a:bodyPr>
            <a:normAutofit/>
          </a:bodyPr>
          <a:lstStyle/>
          <a:p>
            <a:r>
              <a:rPr lang="en-RU" sz="3200" dirty="0"/>
              <a:t>Pooled GSE-terms: REACTOME</a:t>
            </a:r>
          </a:p>
        </p:txBody>
      </p:sp>
      <p:sp>
        <p:nvSpPr>
          <p:cNvPr id="7" name="Title 1">
            <a:extLst>
              <a:ext uri="{FF2B5EF4-FFF2-40B4-BE49-F238E27FC236}">
                <a16:creationId xmlns:a16="http://schemas.microsoft.com/office/drawing/2014/main" id="{8636E67A-8BC6-A5FC-CE30-E8040276EB3E}"/>
              </a:ext>
            </a:extLst>
          </p:cNvPr>
          <p:cNvSpPr txBox="1">
            <a:spLocks/>
          </p:cNvSpPr>
          <p:nvPr/>
        </p:nvSpPr>
        <p:spPr>
          <a:xfrm>
            <a:off x="332873" y="1050925"/>
            <a:ext cx="2350169" cy="59740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RU" sz="1800" dirty="0"/>
              <a:t>A) Pair-wise contrasts</a:t>
            </a:r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7F664FBD-FAAD-E218-9940-E8E63B9CFF47}"/>
              </a:ext>
            </a:extLst>
          </p:cNvPr>
          <p:cNvSpPr txBox="1">
            <a:spLocks/>
          </p:cNvSpPr>
          <p:nvPr/>
        </p:nvSpPr>
        <p:spPr>
          <a:xfrm>
            <a:off x="6212305" y="1050925"/>
            <a:ext cx="2967790" cy="59740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RU" sz="1800" dirty="0"/>
              <a:t>A) Granlular RANKL contrats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27B58D09-C943-EC02-0D65-BA479F876EF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10463" y="2033069"/>
            <a:ext cx="7772400" cy="3108960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08B970C8-CA0B-1E10-3BB7-5E22C2584330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r="29102"/>
          <a:stretch/>
        </p:blipFill>
        <p:spPr>
          <a:xfrm>
            <a:off x="0" y="1860349"/>
            <a:ext cx="5510463" cy="345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15352568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859802E-ABBC-8C2D-F804-325D541AEA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97710" y="142704"/>
            <a:ext cx="7033054" cy="524561"/>
          </a:xfrm>
        </p:spPr>
        <p:txBody>
          <a:bodyPr>
            <a:normAutofit fontScale="90000"/>
          </a:bodyPr>
          <a:lstStyle/>
          <a:p>
            <a:r>
              <a:rPr lang="en-RU" dirty="0"/>
              <a:t>Differential Expression</a:t>
            </a:r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3B233735-B919-8A81-829C-E016AF26BC4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6260" y="1515753"/>
            <a:ext cx="11520052" cy="384001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17513835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>
            <a:extLst>
              <a:ext uri="{FF2B5EF4-FFF2-40B4-BE49-F238E27FC236}">
                <a16:creationId xmlns:a16="http://schemas.microsoft.com/office/drawing/2014/main" id="{2BF8FF00-3B66-EDFF-08D2-9F25C7C862F8}"/>
              </a:ext>
            </a:extLst>
          </p:cNvPr>
          <p:cNvSpPr txBox="1">
            <a:spLocks/>
          </p:cNvSpPr>
          <p:nvPr/>
        </p:nvSpPr>
        <p:spPr>
          <a:xfrm>
            <a:off x="181232" y="236289"/>
            <a:ext cx="10435308" cy="29810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1400" dirty="0"/>
              <a:t>/GSEA/ REACTOME for time-</a:t>
            </a:r>
            <a:r>
              <a:rPr lang="en-US" sz="1400" dirty="0" err="1"/>
              <a:t>dependant</a:t>
            </a:r>
            <a:r>
              <a:rPr lang="en-US" sz="1400" dirty="0"/>
              <a:t> </a:t>
            </a:r>
            <a:r>
              <a:rPr lang="en-US" sz="1400" dirty="0" err="1"/>
              <a:t>genesets</a:t>
            </a:r>
            <a:r>
              <a:rPr lang="en-US" sz="1400" dirty="0"/>
              <a:t> (3d contrast)</a:t>
            </a:r>
            <a:endParaRPr lang="en-RU" sz="1400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6BA5C365-003D-4F55-D2B2-F9BE8D714F3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07413" y="1521718"/>
            <a:ext cx="6601557" cy="4621090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7DD2BDDB-FED7-F4D3-3D50-B3215DFDFD7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1232" y="715192"/>
            <a:ext cx="5126182" cy="256309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81012419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E1C29B2-EA42-2556-570D-42C493A11D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>
            <a:extLst>
              <a:ext uri="{FF2B5EF4-FFF2-40B4-BE49-F238E27FC236}">
                <a16:creationId xmlns:a16="http://schemas.microsoft.com/office/drawing/2014/main" id="{8DE83833-6A29-608D-041D-E39BFAC8E3E3}"/>
              </a:ext>
            </a:extLst>
          </p:cNvPr>
          <p:cNvSpPr txBox="1">
            <a:spLocks/>
          </p:cNvSpPr>
          <p:nvPr/>
        </p:nvSpPr>
        <p:spPr>
          <a:xfrm>
            <a:off x="181232" y="236289"/>
            <a:ext cx="10435308" cy="29810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1400" dirty="0"/>
              <a:t>/GSEA/ HALLMARK for time-</a:t>
            </a:r>
            <a:r>
              <a:rPr lang="en-US" sz="1400" dirty="0" err="1"/>
              <a:t>dependant</a:t>
            </a:r>
            <a:r>
              <a:rPr lang="en-US" sz="1400" dirty="0"/>
              <a:t> </a:t>
            </a:r>
            <a:r>
              <a:rPr lang="en-US" sz="1400" dirty="0" err="1"/>
              <a:t>genesets</a:t>
            </a:r>
            <a:r>
              <a:rPr lang="en-US" sz="1400" dirty="0"/>
              <a:t> (3d contrast)</a:t>
            </a:r>
            <a:endParaRPr lang="en-RU" sz="1400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3EEDA459-65ED-B75B-FF4A-B3E545AFE1B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1232" y="715192"/>
            <a:ext cx="5077294" cy="2538647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D29F66BD-06D7-49F4-AFE7-B3183A8D52E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98886" y="1721922"/>
            <a:ext cx="6366446" cy="44565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8826220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1107</TotalTime>
  <Words>1343</Words>
  <Application>Microsoft Macintosh PowerPoint</Application>
  <PresentationFormat>Widescreen</PresentationFormat>
  <Paragraphs>158</Paragraphs>
  <Slides>19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4" baseType="lpstr">
      <vt:lpstr>-apple-system</vt:lpstr>
      <vt:lpstr>Aptos</vt:lpstr>
      <vt:lpstr>Aptos Display</vt:lpstr>
      <vt:lpstr>Arial</vt:lpstr>
      <vt:lpstr>Office Theme</vt:lpstr>
      <vt:lpstr>RANKL/Streptococcus infection in macrophages</vt:lpstr>
      <vt:lpstr>PowerPoint Presentation</vt:lpstr>
      <vt:lpstr>PowerPoint Presentation</vt:lpstr>
      <vt:lpstr>GSE terms pooling </vt:lpstr>
      <vt:lpstr>Systems modelling approach </vt:lpstr>
      <vt:lpstr>Systems modelling approach </vt:lpstr>
      <vt:lpstr>Statistical modelling approach </vt:lpstr>
      <vt:lpstr>Systems modelling approach </vt:lpstr>
      <vt:lpstr>Systems modelling approach </vt:lpstr>
      <vt:lpstr>Systems modelling approach </vt:lpstr>
      <vt:lpstr>Systems modelling approach </vt:lpstr>
      <vt:lpstr>Systems modelling approach </vt:lpstr>
      <vt:lpstr>Pooled GSE-terms: Hallmark</vt:lpstr>
      <vt:lpstr>Pooled GSE-terms: GO-BP</vt:lpstr>
      <vt:lpstr>Pooled GSE-terms: KEGG</vt:lpstr>
      <vt:lpstr>Pooled GSE-terms: REACTOME</vt:lpstr>
      <vt:lpstr>Differential Expression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Anton Zhelonkin</dc:creator>
  <cp:lastModifiedBy>Anton Zhelonkin</cp:lastModifiedBy>
  <cp:revision>14</cp:revision>
  <dcterms:created xsi:type="dcterms:W3CDTF">2024-11-15T05:54:15Z</dcterms:created>
  <dcterms:modified xsi:type="dcterms:W3CDTF">2025-01-07T17:59:42Z</dcterms:modified>
</cp:coreProperties>
</file>