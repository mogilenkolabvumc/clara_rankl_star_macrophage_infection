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0" r:id="rId4"/>
    <p:sldId id="257" r:id="rId5"/>
    <p:sldId id="264" r:id="rId6"/>
    <p:sldId id="274" r:id="rId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8"/>
  </p:normalViewPr>
  <p:slideViewPr>
    <p:cSldViewPr snapToGrid="0">
      <p:cViewPr>
        <p:scale>
          <a:sx n="108" d="100"/>
          <a:sy n="108" d="100"/>
        </p:scale>
        <p:origin x="88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F8B78-758B-BC7F-EA79-BF26ED023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D3FD9-F4E6-7F23-41C4-4A98D0BA1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F5ADA-E74B-D6B2-A8C7-648E58D5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CBC50-CA19-8759-BC69-2402492C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25E13-89BF-FAAF-7437-755C8FA8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1805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D715-1A20-61A3-A9D0-91F77CBC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C262-E34D-E31D-02D4-A087AA244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30246-85EF-B904-A674-901BEB6B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0C590-DB28-F9D9-757A-0C43628E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D4652-23F0-8EB4-E825-6CCD430E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585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6758-D12C-3308-14F2-C8D9DB44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999BF-7543-D89A-6247-F7D0A6E5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09D53-0D1A-444A-C58B-01D17B25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9D11A-B3FA-B227-AEB5-A1F027C0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F6E8B-AECC-A897-5BB9-6BE81A9F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3929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3EDB-8F45-83EC-A9A7-6FFDD23B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BD2F7-3D3F-C8B7-79E9-34DB2D81F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5CF52-FF3F-554A-CFD2-2DE2CA2B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883EC-0F9A-E19B-1672-5346B315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ED1CE-5CCC-51F0-0C46-223BD921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F86D7-E650-E297-7CB8-C1BE5276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49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9643-40BF-051F-4D87-C40DD9D0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92261-7561-7504-30E7-0F61D390D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BE779-2485-A6A8-5DD0-655166E31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747C4-E85A-C2C3-5F8E-15205E46D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D7618-7CAE-FBD7-0FAB-C9A4B441B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CE19D-146E-153B-A536-9D37AAB24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E622BF-1056-81C2-2E83-6B969D8C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FF028-5C14-8FC3-AB21-7C0DAB3F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4224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D6FE-C99D-0E37-45C2-2F97383D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A717B-4CD8-25F9-CA93-7D735E8A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A02F4-A7FE-4BF6-FA2F-F0D61001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35D74-437C-1A24-BB10-64740319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7535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9FC0F-F4FF-FECA-8017-6230CB92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11E6A-BACF-7077-7E99-0C404D865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40A83-3728-F323-7004-C081878A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5631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1DD3-E372-300D-2CC5-367A95ED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96FD-3F7C-146A-5498-084FF9832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F9A95-EC2D-2151-FCA3-BD2C3991E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AEEB5-4FE1-B65A-225E-FDC0B39A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ADC18-5B7D-D291-3C1D-2731BD0C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A5061-5B7C-6A08-2AB3-B32796A0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9985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A0EC-E230-246D-63FA-886964BA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E11E1-D1D2-81CD-8CBA-BF5378839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1DC8C-DC0D-2C45-6FDB-80E5CC62B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6BDAF-F4B0-5D17-FFAE-2B715FB5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B73DD-601F-C34E-B16B-0054FE4D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720E8-1A61-7220-87FD-6C7D9228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2022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AF3E-2F95-560E-6D46-B7227271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9A8F3-74C5-3E50-69E1-710A28F2C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6A473-2AA6-AA0C-47C4-A4453BEC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C6EE1-5F9A-8401-523D-0B44B109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A8674-859D-D689-A523-C390E429B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8140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2B72D-9254-99A3-A055-419EB6E47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9A448-18C7-59ED-7A09-DCA87545F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F154-072D-2B24-B537-F205A878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83CAF-E3E7-250F-8BFF-4F68246F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EA1E2-0A8C-0ADE-B6BE-29636E0C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0279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DD70B-CFD2-154C-A961-32A0CC939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83665-D64C-0DEA-0CCC-E88E2059F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E9789-53CC-45BF-45AE-8A70AB797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1A7DA-AF49-274C-947F-BA00D37C8FF6}" type="datetimeFigureOut">
              <a:rPr lang="en-RU" smtClean="0"/>
              <a:t>20.11.2024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B2BB-3595-4F8A-CF2B-B08DA4A4E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8F81B-5D25-2465-7D87-73A946AF5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B068E-E127-ED4D-836F-D84CC2BAE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1150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EA31-027D-1138-4D9A-2161251DF5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RANKL/Streptococcus infection in macrophages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FBC7C-BF6E-A6D1-B460-6812014F4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1826" y="3602038"/>
            <a:ext cx="2846173" cy="1655762"/>
          </a:xfrm>
        </p:spPr>
        <p:txBody>
          <a:bodyPr/>
          <a:lstStyle/>
          <a:p>
            <a:r>
              <a:rPr lang="en-RU" dirty="0"/>
              <a:t>Anton Zhelonkin</a:t>
            </a:r>
          </a:p>
        </p:txBody>
      </p:sp>
    </p:spTree>
    <p:extLst>
      <p:ext uri="{BB962C8B-B14F-4D97-AF65-F5344CB8AC3E}">
        <p14:creationId xmlns:p14="http://schemas.microsoft.com/office/powerpoint/2010/main" val="384820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0EE8-519E-4FAE-2603-64DA3EBAD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32" y="1467278"/>
            <a:ext cx="11219935" cy="478524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RU" sz="1600" dirty="0"/>
              <a:t>I have modelled 3 contrasts: </a:t>
            </a:r>
          </a:p>
          <a:p>
            <a:pPr marL="0" indent="0">
              <a:buNone/>
            </a:pPr>
            <a:r>
              <a:rPr lang="en-RU" sz="1600" dirty="0"/>
              <a:t>	</a:t>
            </a:r>
            <a:r>
              <a:rPr lang="en-GB" sz="1600" dirty="0">
                <a:latin typeface="Menlo" panose="020B0609030804020204" pitchFamily="49" charset="0"/>
              </a:rPr>
              <a:t>Early infection 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= (S.100R.4h - M.100R.4h) - (S.0R.4h - M.0R.4h)</a:t>
            </a:r>
          </a:p>
          <a:p>
            <a:pPr marL="0" indent="0"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Late infection = (S.100R.24h - M.100R.24h) - (S.0R.24h - M.0R.24h)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Time-dependent change = ((S.100R.24h - M.100R.24h) - (S.0R.24h - M.0R.24h)) -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GB" sz="1600" b="0" dirty="0">
                <a:effectLst/>
                <a:latin typeface="Menlo" panose="020B0609030804020204" pitchFamily="49" charset="0"/>
              </a:rPr>
              <a:t>			</a:t>
            </a:r>
            <a:r>
              <a:rPr lang="en-GB" sz="1600" dirty="0">
                <a:latin typeface="Menlo" panose="020B0609030804020204" pitchFamily="49" charset="0"/>
              </a:rPr>
              <a:t>	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((S.100R.4h - M.100R.4h) - (S.0R.4h - M.0R.4h))</a:t>
            </a:r>
          </a:p>
          <a:p>
            <a:pPr marL="0" indent="0">
              <a:buNone/>
            </a:pPr>
            <a:endParaRPr lang="en-RU" sz="1600" dirty="0"/>
          </a:p>
          <a:p>
            <a:pPr marL="0" indent="0">
              <a:buNone/>
            </a:pPr>
            <a:r>
              <a:rPr lang="en-RU" sz="1600" b="1" dirty="0"/>
              <a:t>The first contrast (Early infection) adresses the question: </a:t>
            </a:r>
            <a:r>
              <a:rPr lang="en-RU" sz="1600" dirty="0"/>
              <a:t>“</a:t>
            </a:r>
            <a:r>
              <a:rPr lang="en-GB" sz="1600" b="0" dirty="0">
                <a:effectLst/>
              </a:rPr>
              <a:t>Does RANKL treatment make cells respond differently to infection (streptococcus) at 4h? </a:t>
            </a:r>
            <a:r>
              <a:rPr lang="en-RU" sz="1600" b="0" dirty="0">
                <a:effectLst/>
              </a:rPr>
              <a:t>What are the DEGs in RANKL treated cells </a:t>
            </a:r>
            <a:r>
              <a:rPr lang="en-RU" sz="1600" dirty="0"/>
              <a:t>vs non-treated in infection at 4h timepoint?”</a:t>
            </a:r>
          </a:p>
          <a:p>
            <a:pPr marL="0" indent="0">
              <a:buNone/>
            </a:pPr>
            <a:endParaRPr lang="en-RU" sz="1600" dirty="0"/>
          </a:p>
          <a:p>
            <a:pPr marL="0" indent="0">
              <a:buNone/>
            </a:pPr>
            <a:r>
              <a:rPr lang="en-RU" sz="1600" b="1" dirty="0"/>
              <a:t>The second contrast (Late infection) questions: </a:t>
            </a:r>
            <a:r>
              <a:rPr lang="en-GB" sz="1600" b="0" dirty="0">
                <a:effectLst/>
              </a:rPr>
              <a:t>Does RANKL treatment make cells respond differently to infection (streptococcus) at 4h? </a:t>
            </a:r>
            <a:r>
              <a:rPr lang="en-RU" sz="1600" b="0" dirty="0">
                <a:effectLst/>
              </a:rPr>
              <a:t>What are the DEGs in RANKL treated cells </a:t>
            </a:r>
            <a:r>
              <a:rPr lang="en-RU" sz="1600" dirty="0"/>
              <a:t>vs non-treated in infection at 24h timepoint.</a:t>
            </a:r>
          </a:p>
          <a:p>
            <a:pPr marL="0" indent="0">
              <a:buNone/>
            </a:pPr>
            <a:endParaRPr lang="en-RU" sz="1600" dirty="0"/>
          </a:p>
          <a:p>
            <a:pPr marL="0" indent="0">
              <a:buNone/>
            </a:pPr>
            <a:r>
              <a:rPr lang="en-RU" sz="1600" b="1" dirty="0"/>
              <a:t>The third contrast (Time-dependent) questions: </a:t>
            </a:r>
            <a:r>
              <a:rPr lang="en-RU" sz="1600" dirty="0"/>
              <a:t>“Does RANKL impact the infection response over time? What are the time-dependent DEGs in RANKL treated infected cells”</a:t>
            </a:r>
          </a:p>
          <a:p>
            <a:pPr marL="0" indent="0">
              <a:buNone/>
            </a:pPr>
            <a:endParaRPr lang="en-RU" sz="1600" dirty="0"/>
          </a:p>
          <a:p>
            <a:pPr marL="0" indent="0">
              <a:buNone/>
            </a:pPr>
            <a:r>
              <a:rPr lang="en-RU" sz="1600" dirty="0"/>
              <a:t>The `-`sign essentially sets the comparison contrast. Combyning these expression in a specific manner helps us dissect the exact biological question at hand, at filter out DEGs that we are not interested in.</a:t>
            </a:r>
          </a:p>
          <a:p>
            <a:pPr marL="0" indent="0">
              <a:buNone/>
            </a:pPr>
            <a:endParaRPr lang="en-RU" sz="1600" dirty="0"/>
          </a:p>
          <a:p>
            <a:pPr marL="0" indent="0">
              <a:buNone/>
            </a:pPr>
            <a:r>
              <a:rPr lang="en-RU" sz="1600" dirty="0"/>
              <a:t>For example 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(S.100R.4h - M.100R.4h)</a:t>
            </a:r>
            <a:r>
              <a:rPr lang="en-RU" sz="1600" dirty="0"/>
              <a:t> is a comparison between infected and non-infected cells at 4h. </a:t>
            </a:r>
          </a:p>
          <a:p>
            <a:pPr marL="0" indent="0">
              <a:buNone/>
            </a:pPr>
            <a:r>
              <a:rPr lang="en-RU" sz="1600" dirty="0"/>
              <a:t>Thus </a:t>
            </a:r>
            <a:r>
              <a:rPr lang="en-GB" sz="1600" b="0" dirty="0">
                <a:effectLst/>
                <a:latin typeface="Menlo" panose="020B0609030804020204" pitchFamily="49" charset="0"/>
              </a:rPr>
              <a:t>(S.100R.4h - M.100R.4h) - (S.0R.4h - M.0R.4h)</a:t>
            </a:r>
            <a:r>
              <a:rPr lang="en-RU" sz="1600" dirty="0"/>
              <a:t> filters out the from all the infection-related DEGs, those that are RANKL-dependent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06C767-F3EB-8005-4AD5-FC587542246A}"/>
              </a:ext>
            </a:extLst>
          </p:cNvPr>
          <p:cNvSpPr txBox="1">
            <a:spLocks/>
          </p:cNvSpPr>
          <p:nvPr/>
        </p:nvSpPr>
        <p:spPr>
          <a:xfrm>
            <a:off x="459904" y="2529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 dirty="0"/>
              <a:t>Statistical modelling</a:t>
            </a:r>
          </a:p>
        </p:txBody>
      </p:sp>
    </p:spTree>
    <p:extLst>
      <p:ext uri="{BB962C8B-B14F-4D97-AF65-F5344CB8AC3E}">
        <p14:creationId xmlns:p14="http://schemas.microsoft.com/office/powerpoint/2010/main" val="351243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D9C9-FF0F-3A16-6819-C4CC4B83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04" y="252998"/>
            <a:ext cx="10515600" cy="1325563"/>
          </a:xfrm>
        </p:spPr>
        <p:txBody>
          <a:bodyPr/>
          <a:lstStyle/>
          <a:p>
            <a:r>
              <a:rPr lang="en-RU" dirty="0"/>
              <a:t>PCA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18A78-3E52-D153-F2D7-D27DA5D7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41" y="1632289"/>
            <a:ext cx="6744857" cy="481775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AF8A5F-76CC-331E-62A0-B97ABE99F5EA}"/>
              </a:ext>
            </a:extLst>
          </p:cNvPr>
          <p:cNvCxnSpPr/>
          <p:nvPr/>
        </p:nvCxnSpPr>
        <p:spPr>
          <a:xfrm>
            <a:off x="1846690" y="2780269"/>
            <a:ext cx="0" cy="3027405"/>
          </a:xfrm>
          <a:prstGeom prst="line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2EFCEC-39E5-54F7-7643-B32B9727DA9D}"/>
              </a:ext>
            </a:extLst>
          </p:cNvPr>
          <p:cNvSpPr txBox="1"/>
          <p:nvPr/>
        </p:nvSpPr>
        <p:spPr>
          <a:xfrm>
            <a:off x="3222024" y="252998"/>
            <a:ext cx="609805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800" dirty="0"/>
              <a:t>The PCA shows several clear delineations: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600" dirty="0"/>
              <a:t>PC1 captures the RANKL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600" dirty="0"/>
              <a:t>PC2 captures the 4h vs 24h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600" dirty="0"/>
              <a:t>The infection (M vs S) effect seems to be dispersed in the 2 principal components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DC1B2-B15F-B41A-D37F-EB23FB79C44E}"/>
              </a:ext>
            </a:extLst>
          </p:cNvPr>
          <p:cNvSpPr txBox="1"/>
          <p:nvPr/>
        </p:nvSpPr>
        <p:spPr>
          <a:xfrm>
            <a:off x="459904" y="3788029"/>
            <a:ext cx="1195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RU" sz="1800" dirty="0"/>
              <a:t>Time-</a:t>
            </a:r>
          </a:p>
          <a:p>
            <a:pPr algn="ctr"/>
            <a:r>
              <a:rPr lang="en-RU" dirty="0"/>
              <a:t>difference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B5DE83-C5CF-33B1-5583-BCFDB7CAADE5}"/>
              </a:ext>
            </a:extLst>
          </p:cNvPr>
          <p:cNvCxnSpPr>
            <a:cxnSpLocks/>
          </p:cNvCxnSpPr>
          <p:nvPr/>
        </p:nvCxnSpPr>
        <p:spPr>
          <a:xfrm flipH="1">
            <a:off x="3679607" y="6293707"/>
            <a:ext cx="4401710" cy="0"/>
          </a:xfrm>
          <a:prstGeom prst="line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67EF728-671A-8187-F602-1DF4F14133DE}"/>
              </a:ext>
            </a:extLst>
          </p:cNvPr>
          <p:cNvSpPr txBox="1"/>
          <p:nvPr/>
        </p:nvSpPr>
        <p:spPr>
          <a:xfrm>
            <a:off x="9267048" y="5682732"/>
            <a:ext cx="2696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/>
              <a:t>The technical replicates are clustering pretty good</a:t>
            </a:r>
          </a:p>
        </p:txBody>
      </p:sp>
    </p:spTree>
    <p:extLst>
      <p:ext uri="{BB962C8B-B14F-4D97-AF65-F5344CB8AC3E}">
        <p14:creationId xmlns:p14="http://schemas.microsoft.com/office/powerpoint/2010/main" val="312842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802E-ABBC-8C2D-F804-325D541A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10" y="142704"/>
            <a:ext cx="7033054" cy="524561"/>
          </a:xfrm>
        </p:spPr>
        <p:txBody>
          <a:bodyPr>
            <a:normAutofit fontScale="90000"/>
          </a:bodyPr>
          <a:lstStyle/>
          <a:p>
            <a:r>
              <a:rPr lang="en-RU" dirty="0"/>
              <a:t>Differential Expression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233735-B919-8A81-829C-E016AF26B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60" y="1515753"/>
            <a:ext cx="11520052" cy="384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1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F8FF00-3B66-EDFF-08D2-9F25C7C862F8}"/>
              </a:ext>
            </a:extLst>
          </p:cNvPr>
          <p:cNvSpPr txBox="1">
            <a:spLocks/>
          </p:cNvSpPr>
          <p:nvPr/>
        </p:nvSpPr>
        <p:spPr>
          <a:xfrm>
            <a:off x="181232" y="236289"/>
            <a:ext cx="10435308" cy="298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/GSEA/ REACTOME for time-</a:t>
            </a:r>
            <a:r>
              <a:rPr lang="en-US" sz="1400" dirty="0" err="1"/>
              <a:t>dependant</a:t>
            </a:r>
            <a:r>
              <a:rPr lang="en-US" sz="1400" dirty="0"/>
              <a:t> </a:t>
            </a:r>
            <a:r>
              <a:rPr lang="en-US" sz="1400" dirty="0" err="1"/>
              <a:t>genesets</a:t>
            </a:r>
            <a:r>
              <a:rPr lang="en-US" sz="1400" dirty="0"/>
              <a:t> (3d contrast)</a:t>
            </a:r>
            <a:endParaRPr lang="en-RU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A5C365-003D-4F55-D2B2-F9BE8D714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413" y="1521718"/>
            <a:ext cx="6601557" cy="4621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2BDDB-FED7-F4D3-3D50-B3215DFD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2" y="715192"/>
            <a:ext cx="5126182" cy="256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1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29B2-EA42-2556-570D-42C493A1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E83833-6A29-608D-041D-E39BFAC8E3E3}"/>
              </a:ext>
            </a:extLst>
          </p:cNvPr>
          <p:cNvSpPr txBox="1">
            <a:spLocks/>
          </p:cNvSpPr>
          <p:nvPr/>
        </p:nvSpPr>
        <p:spPr>
          <a:xfrm>
            <a:off x="181232" y="236289"/>
            <a:ext cx="10435308" cy="298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/GSEA/ HALLMARK for time-</a:t>
            </a:r>
            <a:r>
              <a:rPr lang="en-US" sz="1400" dirty="0" err="1"/>
              <a:t>dependant</a:t>
            </a:r>
            <a:r>
              <a:rPr lang="en-US" sz="1400" dirty="0"/>
              <a:t> </a:t>
            </a:r>
            <a:r>
              <a:rPr lang="en-US" sz="1400" dirty="0" err="1"/>
              <a:t>genesets</a:t>
            </a:r>
            <a:r>
              <a:rPr lang="en-US" sz="1400" dirty="0"/>
              <a:t> (3d contrast)</a:t>
            </a:r>
            <a:endParaRPr lang="en-RU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DA459-65ED-B75B-FF4A-B3E545AF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2" y="715192"/>
            <a:ext cx="5077294" cy="2538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9F66BD-06D7-49F4-AFE7-B3183A8D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886" y="1721922"/>
            <a:ext cx="6366446" cy="44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6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427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Menlo</vt:lpstr>
      <vt:lpstr>Office Theme</vt:lpstr>
      <vt:lpstr>RANKL/Streptococcus infection in macrophages</vt:lpstr>
      <vt:lpstr>PowerPoint Presentation</vt:lpstr>
      <vt:lpstr>PCA</vt:lpstr>
      <vt:lpstr>Differential Expression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Zhelonkin</dc:creator>
  <cp:lastModifiedBy>Anton Zhelonkin</cp:lastModifiedBy>
  <cp:revision>6</cp:revision>
  <dcterms:created xsi:type="dcterms:W3CDTF">2024-11-15T05:54:15Z</dcterms:created>
  <dcterms:modified xsi:type="dcterms:W3CDTF">2024-11-20T19:53:07Z</dcterms:modified>
</cp:coreProperties>
</file>